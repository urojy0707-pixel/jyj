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체중 변화 (%)</c:v>
                </c:pt>
              </c:strCache>
            </c:strRef>
          </c:tx>
          <c:spPr>
            <a:solidFill>
              <a:srgbClr val="B9C6C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F2B3D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C6C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6E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C6C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601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위약 · STEP 1</c:v>
                  </c:pt>
                  <c:pt idx="1">
                    <c:v>세마글루타이드 2.4mg</c:v>
                  </c:pt>
                  <c:pt idx="2">
                    <c:v>위약 · SURMOUNT-1</c:v>
                  </c:pt>
                  <c:pt idx="3">
                    <c:v>터제파타이드 15mg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-2.4</c:v>
                </c:pt>
                <c:pt idx="1">
                  <c:v>-14.9</c:v>
                </c:pt>
                <c:pt idx="2">
                  <c:v>-3.1</c:v>
                </c:pt>
                <c:pt idx="3">
                  <c:v>-20.9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0F2B3D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B3E52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26"/>
        </c:scaling>
        <c:delete val="0"/>
        <c:axPos val="b"/>
        <c:majorGridlines>
          <c:spPr>
            <a:ln w="12700" cap="flat">
              <a:solidFill>
                <a:srgbClr val="EDF2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A3AF"/>
                </a:solidFill>
                <a:latin typeface="맑은 고딕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도입: GLP-1 작용제를 "살 빼는 신약"으로만 아는 청중이 많습니다. 이 발표의 목표는 약이 무엇을 흉내내는지(우리 몸의 식후 호르몬), 어디에 작용하는지(뇌·위·췌장·간), 그리고 효과와 부작용이 그 기전에서 어떻게 따라 나오는지를 연결해 보여주는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메시지: GLP-1은 외부 물질이 아니라 우리 몸의 정상 식후 호르몬입니다. 인크레틴(incretin)이라 부릅니다. 반감기가 1~2분에 불과해(DPP-4에 의한 분해) 천연 호르몬 자체는 치료제가 될 수 없다는 점이 다음 장의 출발점입니다.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가지 변형이 핵심입니다: (1) DPP-4 절단 부위 변형, (2) 지방산 측쇄를 통한 알부민 결합으로 신장 배설 지연. 결과적으로 반감기가 1~2분에서 약 1주로 늘어납니다. 작용 자체는 천연 호르몬과 같은 GLP-1 수용체를 통해 일어난다는 점을 강조하십시오.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성분명과 상품명의 구분을 반드시 짚어 주십시오. 환자들은 "위고비"와 "오젬픽"을 다른 약으로 알고 오는 경우가 많지만 성분은 같은 세마글루타이드이며 허가 적응증과 용량이 다릅니다. 터제파타이드(마운자로)는 엄밀히 말해 순수 GLP-1 작용제가 아니라 GLP-1/GIP 이중 작용제입니다. 한미약품의 에페글레나타이드 등 국내 개발 약제도 상업화가 추진되고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장이 발표의 중심입니다. 1번(뇌: 시상하부 궁상핵·후뇌 수용체)과 2번(위 배출 지연)이 체중 감소를, 3번(포도당 의존적 인슐린 분비 촉진)과 4번(글루카곤 억제 → 간 당 생성 감소)이 혈당 강하를 설명합니다. 체중 감소의 주된 동력은 식욕 억제이며, 위 배출 지연 효과는 시간이 지나며 약해질 수 있다는 보고가 있습니다(마지막 장의 불확실 항목).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포도당 의존성이 인크레틴 기반 치료의 가장 중요한 안전성 특징입니다. 설포닐우레아·인슐린 병용 시 저혈당 위험 증가는 약물 자체의 문제가 아니라 병용 약제 때문이며, 실제 진료에서 용량 감량이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체중 변화는 STEP 1(세마글루타이드 2.4mg, 68주, -14.9% vs 위약 -2.4%)과 SURMOUNT-1(터제파타이드 15mg, 72주, -20.9% vs 위약 -3.1%)입니다. SELECT는 당뇨가 없는 과체중·비만 + 심혈관질환 환자에서 MACE를 20% 감소시켰습니다(HR 0.80, 95% CI 0.72-0.90). 시험 간 직접 비교가 아니라는 점을 반드시 언급하십시오.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구역 등 위장관 증상은 위 배출 지연의 직접적 결과로 설명하면 청중이 잘 이해합니다. 서서히 증량(dose escalation)이 핵심 대처입니다. 중단 후 체중 재증가는 STEP 1 연장 연구(Diabetes Obes Metab 2022)에서 68주 -17.3% → 120주 -5.6%로 보고되었습니다.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장은 청중이 언론 보도와 실제 근거를 구분하도록 돕습니다. 갑상선 C세포 종양은 설치류 데이터에 근거한 경고이며 사람에서의 인과관계는 확립되지 않았습니다. 다만 갑상선 수질암 병력·가족력, 다발성 내분비선종증 2형은 금기입니다.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필요하면 국내 지침(대한비만학회 비만 진료지침, 대한당뇨병학회 진료지침)을 추가로 인용하십시오.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마무리: 기전 → 효과 → 부작용 → 중단 후 재증가가 하나의 논리로 이어진다는 점을 다시 짚어 주십시오. 질의응답에서 가장 많이 나오는 질문은 (1) 평생 써야 하나요 (2) 근육이 빠지지 않나요 (3) 보험이 되나요 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685800"/>
            <a:ext cx="5120640" cy="5120640"/>
          </a:xfrm>
          <a:prstGeom prst="ellipse">
            <a:avLst/>
          </a:prstGeom>
          <a:solidFill>
            <a:srgbClr val="D9601F">
              <a:alpha val="14000"/>
            </a:srgbClr>
          </a:solidFill>
          <a:ln w="15875">
            <a:solidFill>
              <a:srgbClr val="A45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95560" y="2148840"/>
            <a:ext cx="2194560" cy="2194560"/>
          </a:xfrm>
          <a:prstGeom prst="ellipse">
            <a:avLst/>
          </a:prstGeom>
          <a:solidFill>
            <a:srgbClr val="D9601F">
              <a:alpha val="28000"/>
            </a:srgbClr>
          </a:solidFill>
          <a:ln w="15875">
            <a:solidFill>
              <a:srgbClr val="A452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0" y="2926080"/>
            <a:ext cx="640080" cy="640080"/>
          </a:xfrm>
          <a:prstGeom prst="ellipse">
            <a:avLst/>
          </a:prstGeom>
          <a:solidFill>
            <a:srgbClr val="D960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508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E9A8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일반인을 위한 그림 설명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96596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GLP-1 작용제는</a:t>
            </a:r>
            <a:endParaRPr lang="en-US" sz="4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몸에서 무슨 일을 할까?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9776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FC6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식사 후 몸이 보내는 “이제 그만 먹어도 돼” 신호를,</a:t>
            </a:r>
            <a:endParaRPr lang="en-US" sz="15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FC6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약이 어떻게 오래 켜 두는지 그림으로 따라갑니다.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5897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E8B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교육용 자료 · 2026년 9월 · 근거: 주요 무작위배정 임상시험 및 종설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F2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먼저, GLP-1은 원래 내 몸이 만드는 호르몬입니다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33856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5570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이름이 아니라, 식사를 하면 창자가 뿜어내는 “식후 신호 호르몬”의 이름입니다.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2439848" cy="2697480"/>
          </a:xfrm>
          <a:prstGeom prst="roundRect">
            <a:avLst>
              <a:gd name="adj" fmla="val 337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3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2057400"/>
            <a:ext cx="365760" cy="365760"/>
          </a:xfrm>
          <a:prstGeom prst="ellipse">
            <a:avLst/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293076" y="2377440"/>
            <a:ext cx="859536" cy="859536"/>
          </a:xfrm>
          <a:prstGeom prst="ellipse">
            <a:avLst/>
          </a:prstGeom>
          <a:solidFill>
            <a:srgbClr val="DCEAF1"/>
          </a:solidFill>
          <a:ln w="12700">
            <a:solidFill>
              <a:srgbClr val="DCEAF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9365" y="2583729"/>
            <a:ext cx="446959" cy="44695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30936" y="3355848"/>
            <a:ext cx="218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3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음식을 먹는다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67512" y="3739896"/>
            <a:ext cx="2110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70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음식이 위를 지나 작은창자에 닿습니다.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034208" y="3063240"/>
            <a:ext cx="292608" cy="274320"/>
          </a:xfrm>
          <a:prstGeom prst="rightArrow">
            <a:avLst/>
          </a:prstGeom>
          <a:solidFill>
            <a:srgbClr val="8BA3AF"/>
          </a:solidFill>
          <a:ln w="12700">
            <a:solidFill>
              <a:srgbClr val="8BA3A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18256" y="1874520"/>
            <a:ext cx="2439848" cy="2697480"/>
          </a:xfrm>
          <a:prstGeom prst="roundRect">
            <a:avLst>
              <a:gd name="adj" fmla="val 337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3D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01136" y="2057400"/>
            <a:ext cx="365760" cy="365760"/>
          </a:xfrm>
          <a:prstGeom prst="ellipse">
            <a:avLst/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01136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208412" y="2377440"/>
            <a:ext cx="859536" cy="859536"/>
          </a:xfrm>
          <a:prstGeom prst="ellipse">
            <a:avLst/>
          </a:prstGeom>
          <a:solidFill>
            <a:srgbClr val="DCEAF1"/>
          </a:solidFill>
          <a:ln w="12700">
            <a:solidFill>
              <a:srgbClr val="DCEAF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700" y="2583729"/>
            <a:ext cx="446959" cy="446959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546272" y="3355848"/>
            <a:ext cx="218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3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창자가 알아챈다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3582848" y="3739896"/>
            <a:ext cx="2110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70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작은창자·큰창자 벽의 L세포가 영양분을 감지합니다.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949544" y="3063240"/>
            <a:ext cx="292608" cy="274320"/>
          </a:xfrm>
          <a:prstGeom prst="rightArrow">
            <a:avLst/>
          </a:prstGeom>
          <a:solidFill>
            <a:srgbClr val="8BA3AF"/>
          </a:solidFill>
          <a:ln w="12700">
            <a:solidFill>
              <a:srgbClr val="8BA3A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333592" y="1874520"/>
            <a:ext cx="2439848" cy="2697480"/>
          </a:xfrm>
          <a:prstGeom prst="roundRect">
            <a:avLst>
              <a:gd name="adj" fmla="val 3373"/>
            </a:avLst>
          </a:prstGeom>
          <a:solidFill>
            <a:srgbClr val="FBE6D9"/>
          </a:solidFill>
          <a:ln w="12700">
            <a:solidFill>
              <a:srgbClr val="F0CDB6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3D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516472" y="2057400"/>
            <a:ext cx="365760" cy="365760"/>
          </a:xfrm>
          <a:prstGeom prst="ellipse">
            <a:avLst/>
          </a:prstGeom>
          <a:solidFill>
            <a:srgbClr val="D9601F"/>
          </a:solidFill>
          <a:ln w="12700">
            <a:solidFill>
              <a:srgbClr val="D9601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516472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7123747" y="2377440"/>
            <a:ext cx="859536" cy="8595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0036" y="2583729"/>
            <a:ext cx="446959" cy="446959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461608" y="3355848"/>
            <a:ext cx="218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6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GLP-1이 나온다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6498184" y="3739896"/>
            <a:ext cx="2110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70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L세포가 GLP-1 호르몬을 혈액으로 내보냅니다.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8864879" y="3063240"/>
            <a:ext cx="292608" cy="274320"/>
          </a:xfrm>
          <a:prstGeom prst="rightArrow">
            <a:avLst/>
          </a:prstGeom>
          <a:solidFill>
            <a:srgbClr val="8BA3AF"/>
          </a:solidFill>
          <a:ln w="12700">
            <a:solidFill>
              <a:srgbClr val="8BA3AF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9248927" y="1874520"/>
            <a:ext cx="2439848" cy="2697480"/>
          </a:xfrm>
          <a:prstGeom prst="roundRect">
            <a:avLst>
              <a:gd name="adj" fmla="val 337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3D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9431807" y="2057400"/>
            <a:ext cx="365760" cy="365760"/>
          </a:xfrm>
          <a:prstGeom prst="ellipse">
            <a:avLst/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9431807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10039083" y="2377440"/>
            <a:ext cx="859536" cy="859536"/>
          </a:xfrm>
          <a:prstGeom prst="ellipse">
            <a:avLst/>
          </a:prstGeom>
          <a:solidFill>
            <a:srgbClr val="DCEAF1"/>
          </a:solidFill>
          <a:ln w="12700">
            <a:solidFill>
              <a:srgbClr val="DCEAF1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5372" y="2583729"/>
            <a:ext cx="446959" cy="446959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9376943" y="3355848"/>
            <a:ext cx="2183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53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뇌·췌장에 전달된다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9413519" y="3739896"/>
            <a:ext cx="2110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70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“충분히 먹었다”는 신호가 온몸으로 퍼집니다.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502920" y="4846320"/>
            <a:ext cx="11185855" cy="1097280"/>
          </a:xfrm>
          <a:prstGeom prst="roundRect">
            <a:avLst>
              <a:gd name="adj" fmla="val 7500"/>
            </a:avLst>
          </a:prstGeom>
          <a:solidFill>
            <a:srgbClr val="FBF1DC"/>
          </a:solidFill>
          <a:ln w="12700">
            <a:solidFill>
              <a:srgbClr val="EBD9B4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3D">
                <a:alpha val="10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758952" y="5084064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239512"/>
            <a:ext cx="310896" cy="310896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508760" y="5029200"/>
            <a:ext cx="9951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9C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— 천연 GLP-1은 1~2분이면 사라집니다.  </a:t>
            </a:r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B3E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혈액 속 DPP-4라는 효소가 즉시 잘라 버리기 때문입니다. 그래서 내 몸이 만드는 GLP-1을 그대로 약으로 쓸 수는 없습니다.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502920" y="6327648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B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그림은 개념 설명을 위한 단순화 도식입니다. 출처: Drucker DJ. Cell Metab 2018; Müller TD 외. Mol Metab 2019.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F2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약은 “오래 버티도록 고친 복제품”입니다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33856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5570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새로운 작용을 더한 것이 아니라, 같은 신호가 며칠 동안 유지되도록 구조만 바꿔 놓은 것입니다.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41004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3D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76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570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몸의 천연 GLP-1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04288"/>
            <a:ext cx="4769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5570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1~2</a:t>
            </a:r>
            <a:pPr algn="l" indent="0" marL="0">
              <a:buNone/>
            </a:pPr>
            <a:r>
              <a:rPr lang="en-US" sz="2200" b="1" dirty="0">
                <a:solidFill>
                  <a:srgbClr val="8B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분</a:t>
            </a:r>
            <a:endParaRPr lang="en-US" sz="5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18688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70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DPP-4 효소에 바로 잘려 사라집니다.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8728" y="1645920"/>
            <a:ext cx="5410048" cy="2148840"/>
          </a:xfrm>
          <a:prstGeom prst="roundRect">
            <a:avLst>
              <a:gd name="adj" fmla="val 3830"/>
            </a:avLst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3D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98768" y="1920240"/>
            <a:ext cx="476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CDCE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1회 세마글루타이드 (오젬픽·위고비)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98768" y="2304288"/>
            <a:ext cx="4769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7</a:t>
            </a:r>
            <a:pPr algn="l" indent="0" marL="0">
              <a:buNone/>
            </a:pPr>
            <a:r>
              <a:rPr lang="en-US" sz="2200" b="1" dirty="0">
                <a:solidFill>
                  <a:srgbClr val="BCDCE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일</a:t>
            </a:r>
            <a:endParaRPr lang="en-US" sz="5600" dirty="0"/>
          </a:p>
        </p:txBody>
      </p:sp>
      <p:sp>
        <p:nvSpPr>
          <p:cNvPr id="11" name="Text 9"/>
          <p:cNvSpPr txBox="1"/>
          <p:nvPr/>
        </p:nvSpPr>
        <p:spPr>
          <a:xfrm>
            <a:off x="6598768" y="3218688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6EA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반감기 약 165시간 → 주 1회 주사로 농도가 유지됩니다.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977640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2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오래 버티게 만들었나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4370832"/>
            <a:ext cx="353354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3D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58952" y="4626864"/>
            <a:ext cx="384048" cy="384048"/>
          </a:xfrm>
          <a:prstGeom prst="ellipse">
            <a:avLst/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52728" y="4608576"/>
            <a:ext cx="252770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53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잘리는 자리를 바꿈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138928"/>
            <a:ext cx="298490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570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DPP-4가 자르던 부위를 살짝 변형해 분해를 피합니다.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29074" y="4370832"/>
            <a:ext cx="353354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3D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85106" y="4626864"/>
            <a:ext cx="384048" cy="384048"/>
          </a:xfrm>
          <a:prstGeom prst="ellipse">
            <a:avLst/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85106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078882" y="4608576"/>
            <a:ext cx="252770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53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알부민에 업혀 다님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603394" y="5138928"/>
            <a:ext cx="298490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570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지방산 사슬을 붙여 혈액 단백질에 붙어 다니므로 콩팥으로 덜 빠져나갑니다.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55229" y="4370832"/>
            <a:ext cx="353354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3D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411261" y="4626864"/>
            <a:ext cx="384048" cy="384048"/>
          </a:xfrm>
          <a:prstGeom prst="ellipse">
            <a:avLst/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11261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905037" y="4608576"/>
            <a:ext cx="252770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53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주 1회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429549" y="5138928"/>
            <a:ext cx="298490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570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1회 주사, 또는 매일 먹는 경구제로도 농도를 유지할 수 있습니다.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6327648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B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수치는 세마글루타이드 기준이며 약제마다 다릅니다(리라글루타이드는 매일 주사). 출처: Müller TD 외. Mol Metab 2019.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F2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어떤 약들인가 — 성분명과 상품명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33856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5570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성분명이 약의 본명이고, 상품명은 회사가 붙인 이름입니다. 같은 성분이 용도에 따라 다른 이름으로 팔립니다.</a:t>
            </a:r>
            <a:endParaRPr lang="en-US" sz="14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91056"/>
          <a:ext cx="11185855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606040"/>
                <a:gridCol w="2331720"/>
                <a:gridCol w="4099255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성분명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6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6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투여 방법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6E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 허가 적응증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6E8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53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세마글루타이드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3E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위고비 (Wegovy)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3E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 1회 피하주사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D960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체중 감량 (비만)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D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53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세마글루타이드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3E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오젬픽 (Ozempic)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3E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 1회 피하주사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3E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2형 당뇨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53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세마글루타이드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3E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리벨서스 (Rybelsus)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53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매일 1회 먹는 알약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3E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2형 당뇨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53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터제파타이드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3E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마운자로 (Mounjaro)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3E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 1회 피하주사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D960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2형 당뇨 + 체중 감량  ※GLP-1과 GIP에 함께 작용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D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53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리라글루타이드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3E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삭센다 (Saxenda)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3E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매일 1회 피하주사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D960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체중 감량 (비만)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D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53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리라글루타이드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3E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빅토자 (Victoza)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3E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매일 1회 피하주사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3E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2형 당뇨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53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둘라글루타이드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3E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트루리시티 (Trulicity)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3E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 1회 피하주사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3E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2형 당뇨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394960"/>
            <a:ext cx="11185855" cy="786384"/>
          </a:xfrm>
          <a:prstGeom prst="roundRect">
            <a:avLst>
              <a:gd name="adj" fmla="val 10465"/>
            </a:avLst>
          </a:prstGeom>
          <a:solidFill>
            <a:srgbClr val="FBF1DC"/>
          </a:solidFill>
          <a:ln w="12700">
            <a:solidFill>
              <a:srgbClr val="EBD9B4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3D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22376" y="56509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BE6D9"/>
          </a:solidFill>
          <a:ln w="12700">
            <a:solidFill>
              <a:srgbClr val="F0CDB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24712" y="5504688"/>
            <a:ext cx="10317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9C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주황색 줄 = 체중 감량 적응증으로 허가된 약입니다.  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3E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허가 적응증과 국내 공급 상황은 자주 바뀌므로, 처방 전 식품의약품안전처 허가정보를 확인하십시오.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272784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B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미국에서는 터제파타이드의 체중 감량 적응증이 젭바운드(Zepbound)로 판매됩니다. 엑세나타이드·릭시세나타이드는 초기 세대 약제입니다. 표는 2026년 중반 기준입니다.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F2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약은 네 곳에 동시에 말을 겁니다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4495648" y="1298448"/>
            <a:ext cx="3200400" cy="804672"/>
          </a:xfrm>
          <a:prstGeom prst="roundRect">
            <a:avLst>
              <a:gd name="adj" fmla="val 50000"/>
            </a:avLst>
          </a:prstGeom>
          <a:solidFill>
            <a:srgbClr val="D9601F"/>
          </a:solidFill>
          <a:ln/>
          <a:effectLst>
            <a:outerShdw sx="100000" sy="100000" kx="0" ky="0" algn="bl" rotWithShape="0" blurRad="127000" dist="25400" dir="5400000">
              <a:srgbClr val="0F2B3D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495648" y="1298448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GLP-1 작용제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095848" y="2103120"/>
            <a:ext cx="0" cy="420624"/>
          </a:xfrm>
          <a:prstGeom prst="line">
            <a:avLst/>
          </a:prstGeom>
          <a:noFill/>
          <a:ln w="22225">
            <a:solidFill>
              <a:srgbClr val="8BA3A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05140" y="2523744"/>
            <a:ext cx="8581415" cy="0"/>
          </a:xfrm>
          <a:prstGeom prst="line">
            <a:avLst/>
          </a:prstGeom>
          <a:noFill/>
          <a:ln w="22225">
            <a:solidFill>
              <a:srgbClr val="8BA3A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05140" y="2523744"/>
            <a:ext cx="0" cy="347472"/>
          </a:xfrm>
          <a:prstGeom prst="line">
            <a:avLst/>
          </a:prstGeom>
          <a:noFill/>
          <a:ln w="22225">
            <a:solidFill>
              <a:srgbClr val="8BA3A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665612" y="2523744"/>
            <a:ext cx="0" cy="347472"/>
          </a:xfrm>
          <a:prstGeom prst="line">
            <a:avLst/>
          </a:prstGeom>
          <a:noFill/>
          <a:ln w="22225">
            <a:solidFill>
              <a:srgbClr val="8BA3A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526084" y="2523744"/>
            <a:ext cx="0" cy="347472"/>
          </a:xfrm>
          <a:prstGeom prst="line">
            <a:avLst/>
          </a:prstGeom>
          <a:noFill/>
          <a:ln w="22225">
            <a:solidFill>
              <a:srgbClr val="8B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0386555" y="2523744"/>
            <a:ext cx="0" cy="347472"/>
          </a:xfrm>
          <a:prstGeom prst="line">
            <a:avLst/>
          </a:prstGeom>
          <a:noFill/>
          <a:ln w="22225">
            <a:solidFill>
              <a:srgbClr val="8BA3A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2920" y="2907792"/>
            <a:ext cx="2604440" cy="3127248"/>
          </a:xfrm>
          <a:prstGeom prst="roundRect">
            <a:avLst>
              <a:gd name="adj" fmla="val 316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3D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5800" y="3090672"/>
            <a:ext cx="365760" cy="365760"/>
          </a:xfrm>
          <a:prstGeom prst="ellipse">
            <a:avLst/>
          </a:prstGeom>
          <a:solidFill>
            <a:srgbClr val="D9601F"/>
          </a:solidFill>
          <a:ln w="12700">
            <a:solidFill>
              <a:srgbClr val="D960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57084" y="3355848"/>
            <a:ext cx="896112" cy="896112"/>
          </a:xfrm>
          <a:prstGeom prst="ellipse">
            <a:avLst/>
          </a:prstGeom>
          <a:solidFill>
            <a:srgbClr val="DCEAF1"/>
          </a:solidFill>
          <a:ln w="12700">
            <a:solidFill>
              <a:srgbClr val="DCEAF1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151" y="3570915"/>
            <a:ext cx="465978" cy="465978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12648" y="4352544"/>
            <a:ext cx="238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53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49224" y="4754880"/>
            <a:ext cx="2311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570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배고픔 신호를 줄입니다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9224" y="5449824"/>
            <a:ext cx="2311832" cy="438912"/>
          </a:xfrm>
          <a:prstGeom prst="roundRect">
            <a:avLst>
              <a:gd name="adj" fmla="val 14583"/>
            </a:avLst>
          </a:prstGeom>
          <a:solidFill>
            <a:srgbClr val="FBE6D9"/>
          </a:solidFill>
          <a:ln w="12700">
            <a:solidFill>
              <a:srgbClr val="FBE6D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9224" y="5449824"/>
            <a:ext cx="2311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6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덜 먹고, 더 빨리 배부름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363392" y="2907792"/>
            <a:ext cx="2604440" cy="3127248"/>
          </a:xfrm>
          <a:prstGeom prst="roundRect">
            <a:avLst>
              <a:gd name="adj" fmla="val 316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3D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546272" y="3090672"/>
            <a:ext cx="365760" cy="365760"/>
          </a:xfrm>
          <a:prstGeom prst="ellipse">
            <a:avLst/>
          </a:prstGeom>
          <a:solidFill>
            <a:srgbClr val="D9601F"/>
          </a:solidFill>
          <a:ln w="12700">
            <a:solidFill>
              <a:srgbClr val="D9601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546272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217556" y="3355848"/>
            <a:ext cx="896112" cy="896112"/>
          </a:xfrm>
          <a:prstGeom prst="ellipse">
            <a:avLst/>
          </a:prstGeom>
          <a:solidFill>
            <a:srgbClr val="DCEAF1"/>
          </a:solidFill>
          <a:ln w="12700">
            <a:solidFill>
              <a:srgbClr val="DCEAF1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2623" y="3570915"/>
            <a:ext cx="465978" cy="465978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3473120" y="4352544"/>
            <a:ext cx="238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53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</a:t>
            </a:r>
            <a:endParaRPr lang="en-US" sz="2000" dirty="0"/>
          </a:p>
        </p:txBody>
      </p:sp>
      <p:sp>
        <p:nvSpPr>
          <p:cNvPr id="26" name="Text 22"/>
          <p:cNvSpPr txBox="1"/>
          <p:nvPr/>
        </p:nvSpPr>
        <p:spPr>
          <a:xfrm>
            <a:off x="3509696" y="4754880"/>
            <a:ext cx="2311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570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위가 천천히 비워집니다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3509696" y="5449824"/>
            <a:ext cx="2311832" cy="438912"/>
          </a:xfrm>
          <a:prstGeom prst="roundRect">
            <a:avLst>
              <a:gd name="adj" fmla="val 14583"/>
            </a:avLst>
          </a:prstGeom>
          <a:solidFill>
            <a:srgbClr val="FBE6D9"/>
          </a:solidFill>
          <a:ln w="12700">
            <a:solidFill>
              <a:srgbClr val="FBE6D9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3509696" y="5449824"/>
            <a:ext cx="2311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6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포만감이 오래 지속됨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223864" y="2907792"/>
            <a:ext cx="2604440" cy="3127248"/>
          </a:xfrm>
          <a:prstGeom prst="roundRect">
            <a:avLst>
              <a:gd name="adj" fmla="val 316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3D">
                <a:alpha val="10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406744" y="3090672"/>
            <a:ext cx="365760" cy="365760"/>
          </a:xfrm>
          <a:prstGeom prst="ellipse">
            <a:avLst/>
          </a:prstGeom>
          <a:solidFill>
            <a:srgbClr val="D9601F"/>
          </a:solidFill>
          <a:ln w="12700">
            <a:solidFill>
              <a:srgbClr val="D9601F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6406744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7078028" y="3355848"/>
            <a:ext cx="896112" cy="896112"/>
          </a:xfrm>
          <a:prstGeom prst="ellipse">
            <a:avLst/>
          </a:prstGeom>
          <a:solidFill>
            <a:srgbClr val="DCEAF1"/>
          </a:solidFill>
          <a:ln w="12700">
            <a:solidFill>
              <a:srgbClr val="DCEAF1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3094" y="3570915"/>
            <a:ext cx="465978" cy="465978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6333592" y="4352544"/>
            <a:ext cx="238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53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췌장</a:t>
            </a:r>
            <a:endParaRPr lang="en-US" sz="2000" dirty="0"/>
          </a:p>
        </p:txBody>
      </p:sp>
      <p:sp>
        <p:nvSpPr>
          <p:cNvPr id="35" name="Text 30"/>
          <p:cNvSpPr txBox="1"/>
          <p:nvPr/>
        </p:nvSpPr>
        <p:spPr>
          <a:xfrm>
            <a:off x="6370168" y="4754880"/>
            <a:ext cx="2311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570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혈당이 높을 때만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570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인슐린을 더 냅니다</a:t>
            </a:r>
            <a:endParaRPr lang="en-US" sz="1250" dirty="0"/>
          </a:p>
        </p:txBody>
      </p:sp>
      <p:sp>
        <p:nvSpPr>
          <p:cNvPr id="36" name="Shape 31"/>
          <p:cNvSpPr/>
          <p:nvPr/>
        </p:nvSpPr>
        <p:spPr>
          <a:xfrm>
            <a:off x="6370168" y="5449824"/>
            <a:ext cx="2311832" cy="438912"/>
          </a:xfrm>
          <a:prstGeom prst="roundRect">
            <a:avLst>
              <a:gd name="adj" fmla="val 14583"/>
            </a:avLst>
          </a:prstGeom>
          <a:solidFill>
            <a:srgbClr val="FBE6D9"/>
          </a:solidFill>
          <a:ln w="12700">
            <a:solidFill>
              <a:srgbClr val="FBE6D9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6370168" y="5449824"/>
            <a:ext cx="2311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6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식후 혈당이 덜 오름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9084335" y="2907792"/>
            <a:ext cx="2604440" cy="3127248"/>
          </a:xfrm>
          <a:prstGeom prst="roundRect">
            <a:avLst>
              <a:gd name="adj" fmla="val 316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3D">
                <a:alpha val="10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9267215" y="3090672"/>
            <a:ext cx="365760" cy="365760"/>
          </a:xfrm>
          <a:prstGeom prst="ellipse">
            <a:avLst/>
          </a:prstGeom>
          <a:solidFill>
            <a:srgbClr val="D9601F"/>
          </a:solidFill>
          <a:ln w="12700">
            <a:solidFill>
              <a:srgbClr val="D9601F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9267215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41" name="Shape 36"/>
          <p:cNvSpPr/>
          <p:nvPr/>
        </p:nvSpPr>
        <p:spPr>
          <a:xfrm>
            <a:off x="9938499" y="3355848"/>
            <a:ext cx="896112" cy="896112"/>
          </a:xfrm>
          <a:prstGeom prst="ellipse">
            <a:avLst/>
          </a:prstGeom>
          <a:solidFill>
            <a:srgbClr val="DCEAF1"/>
          </a:solidFill>
          <a:ln w="12700">
            <a:solidFill>
              <a:srgbClr val="DCEAF1"/>
            </a:solidFill>
            <a:prstDash val="solid"/>
          </a:ln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3566" y="3570915"/>
            <a:ext cx="465978" cy="465978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9194063" y="4352544"/>
            <a:ext cx="238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53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</a:t>
            </a:r>
            <a:endParaRPr lang="en-US" sz="2000" dirty="0"/>
          </a:p>
        </p:txBody>
      </p:sp>
      <p:sp>
        <p:nvSpPr>
          <p:cNvPr id="44" name="Text 38"/>
          <p:cNvSpPr txBox="1"/>
          <p:nvPr/>
        </p:nvSpPr>
        <p:spPr>
          <a:xfrm>
            <a:off x="9230639" y="4754880"/>
            <a:ext cx="2311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570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간이 내보내는 당을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570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줄입니다</a:t>
            </a:r>
            <a:endParaRPr lang="en-US" sz="1250" dirty="0"/>
          </a:p>
        </p:txBody>
      </p:sp>
      <p:sp>
        <p:nvSpPr>
          <p:cNvPr id="45" name="Shape 39"/>
          <p:cNvSpPr/>
          <p:nvPr/>
        </p:nvSpPr>
        <p:spPr>
          <a:xfrm>
            <a:off x="9230639" y="5449824"/>
            <a:ext cx="2311832" cy="438912"/>
          </a:xfrm>
          <a:prstGeom prst="roundRect">
            <a:avLst>
              <a:gd name="adj" fmla="val 14583"/>
            </a:avLst>
          </a:prstGeom>
          <a:solidFill>
            <a:srgbClr val="FBE6D9"/>
          </a:solidFill>
          <a:ln w="12700">
            <a:solidFill>
              <a:srgbClr val="FBE6D9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9230639" y="5449824"/>
            <a:ext cx="2311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6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공복 혈당이 내려감</a:t>
            </a:r>
            <a:endParaRPr lang="en-US" sz="1100" dirty="0"/>
          </a:p>
        </p:txBody>
      </p:sp>
      <p:sp>
        <p:nvSpPr>
          <p:cNvPr id="47" name="Text 41"/>
          <p:cNvSpPr txBox="1"/>
          <p:nvPr/>
        </p:nvSpPr>
        <p:spPr>
          <a:xfrm>
            <a:off x="502920" y="6327648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B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 작용은 동물 및 사람 연구에서 반복적으로 확인된 확립된 기전입니다. 출처: Drucker DJ. Cell Metab 2018; Müller TD 외. Mol Metab 2019.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F2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“혈당이 높을 때만” 켜지는 스위치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33856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5570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인슐린을 무조건 더 내게 하는 약이 아니라, 혈당이 올라가 있을 때만 작용이 세지는 약입니다.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5410048" cy="2724912"/>
          </a:xfrm>
          <a:prstGeom prst="roundRect">
            <a:avLst>
              <a:gd name="adj" fmla="val 3020"/>
            </a:avLst>
          </a:prstGeom>
          <a:solidFill>
            <a:srgbClr val="FBE6D9"/>
          </a:solidFill>
          <a:ln w="12700">
            <a:solidFill>
              <a:srgbClr val="F0CDB6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3D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50392" y="18836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D96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50392" y="2377440"/>
            <a:ext cx="471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2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식사 직후 — 혈당이 올라갈 때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2852928"/>
            <a:ext cx="4641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3E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췌장 베타세포의 인슐린 분비를 강하게 돕습니다</a:t>
            </a:r>
            <a:endParaRPr lang="en-US" sz="12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3E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혈당을 올리는 글루카곤은 함께 억제합니다</a:t>
            </a:r>
            <a:endParaRPr lang="en-US" sz="12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3E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결과: 식후 혈당이 완만하게 올라갑니다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8728" y="1627632"/>
            <a:ext cx="5410048" cy="2724912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3D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26200" y="188366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8B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OFF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626200" y="2377440"/>
            <a:ext cx="471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2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공복 — 혈당이 정상일 때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662776" y="2852928"/>
            <a:ext cx="4641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570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인슐린을 더 내라는 자극이 거의 사라집니다</a:t>
            </a:r>
            <a:endParaRPr lang="en-US" sz="12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570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억제되던 글루카곤도 다시 제 역할을 합니다</a:t>
            </a:r>
            <a:endParaRPr lang="en-US" sz="12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570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결과: 혈당을 정상 아래로 끌어내리지 않습니다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4773168"/>
            <a:ext cx="11185855" cy="1207008"/>
          </a:xfrm>
          <a:prstGeom prst="roundRect">
            <a:avLst>
              <a:gd name="adj" fmla="val 6818"/>
            </a:avLst>
          </a:prstGeom>
          <a:solidFill>
            <a:srgbClr val="FBF1DC"/>
          </a:solidFill>
          <a:ln w="12700">
            <a:solidFill>
              <a:srgbClr val="EBD9B4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3D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58952" y="5065776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836" y="5233660"/>
            <a:ext cx="286024" cy="28602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508760" y="4974336"/>
            <a:ext cx="9951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9C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이 약만 쓸 때는 저혈당이 드뭅니다. 단, 예외가 있습니다.  </a:t>
            </a:r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B3E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설포닐우레아 계열 약이나 인슐린과 함께 쓰면 저혈당 위험이 올라가므로, 기존 약의 용량을 줄여야 할 수 있습니다. 반드시 처방의와 상의하십시오.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02920" y="6327648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B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“포도당 의존적(glucose-dependent)” 작용이라 부릅니다. 출처: Drucker DJ. Cell Metab 2018.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F2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효과: 임상시험에서 확인된 숫자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33856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5570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위약과 비교한 대규모 무작위배정 임상시험 결과입니다.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6903720" cy="4041648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3D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13816" y="1847088"/>
            <a:ext cx="6281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2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68~72주 후 평균 체중 변화 (%)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67512" y="2249424"/>
          <a:ext cx="6501384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13816" y="5065776"/>
            <a:ext cx="6281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570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세마글루타이드 2.4mg = 위고비, 터제파타이드 15mg = 마운자로. 터제파타이드는 GLP-1과 GIP 두 수용체에 함께 작용합니다.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717536" y="1627632"/>
            <a:ext cx="3971239" cy="2139696"/>
          </a:xfrm>
          <a:prstGeom prst="roundRect">
            <a:avLst>
              <a:gd name="adj" fmla="val 3846"/>
            </a:avLst>
          </a:prstGeom>
          <a:solidFill>
            <a:srgbClr val="1C6E8C"/>
          </a:solidFill>
          <a:ln w="12700">
            <a:solidFill>
              <a:srgbClr val="1C6E8C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3D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982712" y="1874520"/>
            <a:ext cx="603504" cy="603504"/>
          </a:xfrm>
          <a:prstGeom prst="ellipse">
            <a:avLst/>
          </a:prstGeom>
          <a:solidFill>
            <a:srgbClr val="14536B"/>
          </a:solidFill>
          <a:ln w="12700">
            <a:solidFill>
              <a:srgbClr val="14536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3588" y="2025396"/>
            <a:ext cx="301752" cy="30175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796528" y="1865376"/>
            <a:ext cx="25996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20%</a:t>
            </a:r>
            <a:pPr algn="l" indent="0" marL="0">
              <a:buNone/>
            </a:pPr>
            <a:r>
              <a:rPr lang="en-US" sz="1700" b="1" dirty="0">
                <a:solidFill>
                  <a:srgbClr val="BCDCE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감소</a:t>
            </a:r>
            <a:endParaRPr lang="en-US" sz="4400" dirty="0"/>
          </a:p>
        </p:txBody>
      </p:sp>
      <p:sp>
        <p:nvSpPr>
          <p:cNvPr id="12" name="Text 8"/>
          <p:cNvSpPr txBox="1"/>
          <p:nvPr/>
        </p:nvSpPr>
        <p:spPr>
          <a:xfrm>
            <a:off x="8046720" y="2542032"/>
            <a:ext cx="331287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6EA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위약보다 주요 심혈관 사건(심혈관 사망·심근경색·뇌졸중)이 20% 적었습니다.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6EA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대상: 심혈관질환이 있고 당뇨는 없는 과체중·비만 성인 (SELECT, 위험비 0.80).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717536" y="3950208"/>
            <a:ext cx="3971239" cy="1719072"/>
          </a:xfrm>
          <a:prstGeom prst="roundRect">
            <a:avLst>
              <a:gd name="adj" fmla="val 4787"/>
            </a:avLst>
          </a:prstGeom>
          <a:solidFill>
            <a:srgbClr val="FBF1DC"/>
          </a:solidFill>
          <a:ln w="12700">
            <a:solidFill>
              <a:srgbClr val="EBD9B4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3D">
                <a:alpha val="10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8046720" y="4187952"/>
            <a:ext cx="33128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C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숫자를 읽을 때 주의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8083296" y="4553712"/>
            <a:ext cx="3239719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3E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다른 시험의 결과이며 직접 비교가 아닙니다</a:t>
            </a:r>
            <a:endParaRPr lang="en-US" sz="10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3E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식사·운동 상담이 함께 제공되었습니다</a:t>
            </a:r>
            <a:endParaRPr lang="en-US" sz="10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3E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평균값이며 개인차가 큽니다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502920" y="6327648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B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Wilding JPH 외. N Engl J Med 2021;384:989 (STEP 1) · Jastreboff AM 외. N Engl J Med 2022;387:205 (SURMOUNT-1) · Lincoff AM 외. N Engl J Med 2023;389:2221 (SELECT).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F2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부작용과 알아둘 점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33856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5570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대부분은 앞서 본 작용 기전에서 그대로 따라 나옵니다 — 위가 천천히 비워지니 속이 불편한 것입니다.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11185855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91640"/>
            <a:ext cx="603504" cy="603504"/>
          </a:xfrm>
          <a:prstGeom prst="ellipse">
            <a:avLst/>
          </a:prstGeom>
          <a:solidFill>
            <a:srgbClr val="DCEAF1"/>
          </a:solidFill>
          <a:ln w="12700">
            <a:solidFill>
              <a:srgbClr val="DCEAF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1842516"/>
            <a:ext cx="301752" cy="3017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527048" y="1728216"/>
            <a:ext cx="1060704" cy="274320"/>
          </a:xfrm>
          <a:prstGeom prst="roundRect">
            <a:avLst>
              <a:gd name="adj" fmla="val 23333"/>
            </a:avLst>
          </a:prstGeom>
          <a:solidFill>
            <a:srgbClr val="FBE6D9"/>
          </a:solidFill>
          <a:ln w="12700">
            <a:solidFill>
              <a:srgbClr val="FBE6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527048" y="1728216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6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흔함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2697480" y="1700784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53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구역 · 구토 · 설사 · 변비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2697480" y="1993392"/>
            <a:ext cx="8716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570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세마글루타이드 2.4mg 시험에서 구역 약 44%(위약 17%). 주로 초기와 증량 시기에 생기고 시간이 지나며 줄어듭니다. 용량을 천천히 올리는 것이 표준 대처법입니다.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02920" y="2459736"/>
            <a:ext cx="11185855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9808" y="2578608"/>
            <a:ext cx="603504" cy="603504"/>
          </a:xfrm>
          <a:prstGeom prst="ellipse">
            <a:avLst/>
          </a:prstGeom>
          <a:solidFill>
            <a:srgbClr val="DCEAF1"/>
          </a:solidFill>
          <a:ln w="12700">
            <a:solidFill>
              <a:srgbClr val="DCEAF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" y="2729484"/>
            <a:ext cx="301752" cy="30175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527048" y="2615184"/>
            <a:ext cx="1060704" cy="274320"/>
          </a:xfrm>
          <a:prstGeom prst="roundRect">
            <a:avLst>
              <a:gd name="adj" fmla="val 23333"/>
            </a:avLst>
          </a:prstGeom>
          <a:solidFill>
            <a:srgbClr val="FBE6D9"/>
          </a:solidFill>
          <a:ln w="12700">
            <a:solidFill>
              <a:srgbClr val="FBE6D9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527048" y="2615184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6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드물지만 증가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2697480" y="258775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53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담석 · 담낭 질환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2697480" y="2880360"/>
            <a:ext cx="8716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570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담낭 관련 이상반응 2.6% 대 위약 1.2%. 빠른 체중 감소 자체와도 관련이 있습니다.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02920" y="3346704"/>
            <a:ext cx="11185855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9808" y="3465576"/>
            <a:ext cx="603504" cy="603504"/>
          </a:xfrm>
          <a:prstGeom prst="ellipse">
            <a:avLst/>
          </a:prstGeom>
          <a:solidFill>
            <a:srgbClr val="DCEAF1"/>
          </a:solidFill>
          <a:ln w="12700">
            <a:solidFill>
              <a:srgbClr val="DCEAF1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3616452"/>
            <a:ext cx="301752" cy="30175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527048" y="3502152"/>
            <a:ext cx="1060704" cy="274320"/>
          </a:xfrm>
          <a:prstGeom prst="roundRect">
            <a:avLst>
              <a:gd name="adj" fmla="val 23333"/>
            </a:avLst>
          </a:prstGeom>
          <a:solidFill>
            <a:srgbClr val="FBE6D9"/>
          </a:solidFill>
          <a:ln w="12700">
            <a:solidFill>
              <a:srgbClr val="FBE6D9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1527048" y="350215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6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드묾</a:t>
            </a:r>
            <a:endParaRPr lang="en-US" sz="950" dirty="0"/>
          </a:p>
        </p:txBody>
      </p:sp>
      <p:sp>
        <p:nvSpPr>
          <p:cNvPr id="23" name="Text 18"/>
          <p:cNvSpPr txBox="1"/>
          <p:nvPr/>
        </p:nvSpPr>
        <p:spPr>
          <a:xfrm>
            <a:off x="2697480" y="347472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53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췌장염</a:t>
            </a:r>
            <a:endParaRPr lang="en-US" sz="1450" dirty="0"/>
          </a:p>
        </p:txBody>
      </p:sp>
      <p:sp>
        <p:nvSpPr>
          <p:cNvPr id="24" name="Text 19"/>
          <p:cNvSpPr txBox="1"/>
          <p:nvPr/>
        </p:nvSpPr>
        <p:spPr>
          <a:xfrm>
            <a:off x="2697480" y="3767328"/>
            <a:ext cx="8716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570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보고되어 있으나 드물며, 대규모 심혈관 결과 시험에서 위약보다 뚜렷이 증가한다는 근거는 확인되지 않았습니다.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02920" y="4233672"/>
            <a:ext cx="11185855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49808" y="4352544"/>
            <a:ext cx="603504" cy="603504"/>
          </a:xfrm>
          <a:prstGeom prst="ellipse">
            <a:avLst/>
          </a:prstGeom>
          <a:solidFill>
            <a:srgbClr val="DCEAF1"/>
          </a:solidFill>
          <a:ln w="12700">
            <a:solidFill>
              <a:srgbClr val="DCEAF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4503420"/>
            <a:ext cx="301752" cy="301752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1527048" y="4389120"/>
            <a:ext cx="1060704" cy="274320"/>
          </a:xfrm>
          <a:prstGeom prst="roundRect">
            <a:avLst>
              <a:gd name="adj" fmla="val 23333"/>
            </a:avLst>
          </a:prstGeom>
          <a:solidFill>
            <a:srgbClr val="FBE6D9"/>
          </a:solidFill>
          <a:ln w="12700">
            <a:solidFill>
              <a:srgbClr val="FBE6D9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1527048" y="4389120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6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 필요</a:t>
            </a:r>
            <a:endParaRPr lang="en-US" sz="950" dirty="0"/>
          </a:p>
        </p:txBody>
      </p:sp>
      <p:sp>
        <p:nvSpPr>
          <p:cNvPr id="30" name="Text 24"/>
          <p:cNvSpPr txBox="1"/>
          <p:nvPr/>
        </p:nvSpPr>
        <p:spPr>
          <a:xfrm>
            <a:off x="2697480" y="436168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53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근육량 감소</a:t>
            </a:r>
            <a:endParaRPr lang="en-US" sz="1450" dirty="0"/>
          </a:p>
        </p:txBody>
      </p:sp>
      <p:sp>
        <p:nvSpPr>
          <p:cNvPr id="31" name="Text 25"/>
          <p:cNvSpPr txBox="1"/>
          <p:nvPr/>
        </p:nvSpPr>
        <p:spPr>
          <a:xfrm>
            <a:off x="2697480" y="4654296"/>
            <a:ext cx="8716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570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체중의 일부는 지방이 아닌 제지방(근육 포함)입니다. 충분한 단백질 섭취와 근력 운동이 권고됩니다.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502920" y="5120640"/>
            <a:ext cx="11185855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49808" y="5239512"/>
            <a:ext cx="603504" cy="603504"/>
          </a:xfrm>
          <a:prstGeom prst="ellipse">
            <a:avLst/>
          </a:prstGeom>
          <a:solidFill>
            <a:srgbClr val="DCEAF1"/>
          </a:solidFill>
          <a:ln w="12700">
            <a:solidFill>
              <a:srgbClr val="DCEAF1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" y="5390388"/>
            <a:ext cx="301752" cy="301752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1527048" y="5276088"/>
            <a:ext cx="1060704" cy="274320"/>
          </a:xfrm>
          <a:prstGeom prst="roundRect">
            <a:avLst>
              <a:gd name="adj" fmla="val 23333"/>
            </a:avLst>
          </a:prstGeom>
          <a:solidFill>
            <a:srgbClr val="FBE6D9"/>
          </a:solidFill>
          <a:ln w="12700">
            <a:solidFill>
              <a:srgbClr val="FBE6D9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1527048" y="5276088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60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중요</a:t>
            </a:r>
            <a:endParaRPr lang="en-US" sz="950" dirty="0"/>
          </a:p>
        </p:txBody>
      </p:sp>
      <p:sp>
        <p:nvSpPr>
          <p:cNvPr id="37" name="Text 30"/>
          <p:cNvSpPr txBox="1"/>
          <p:nvPr/>
        </p:nvSpPr>
        <p:spPr>
          <a:xfrm>
            <a:off x="2697480" y="524865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453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끊으면 체중이 돌아옵니다</a:t>
            </a:r>
            <a:endParaRPr lang="en-US" sz="1450" dirty="0"/>
          </a:p>
        </p:txBody>
      </p:sp>
      <p:sp>
        <p:nvSpPr>
          <p:cNvPr id="38" name="Text 31"/>
          <p:cNvSpPr txBox="1"/>
          <p:nvPr/>
        </p:nvSpPr>
        <p:spPr>
          <a:xfrm>
            <a:off x="2697480" y="5541264"/>
            <a:ext cx="8716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570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 연장 연구에서 중단 1년 후 감량분의 약 3분의 2가 되돌아왔습니다. 비만은 장기 관리가 필요한 상태로 봅니다.</a:t>
            </a:r>
            <a:endParaRPr lang="en-US" sz="1050" dirty="0"/>
          </a:p>
        </p:txBody>
      </p:sp>
      <p:sp>
        <p:nvSpPr>
          <p:cNvPr id="39" name="Text 32"/>
          <p:cNvSpPr txBox="1"/>
          <p:nvPr/>
        </p:nvSpPr>
        <p:spPr>
          <a:xfrm>
            <a:off x="502920" y="6053328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B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갑상선 수질암 병력·가족력이 있으면 사용하지 않습니다(설치류 자료에 근거한 경고이며 사람에서의 인과관계는 미확립 — 다음 장). 출처: Wilding JPH 외. NEJM 2021; Diabetes Obes Metab 2022.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F2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확실한 것과, 아직 모르는 것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33856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5570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근거의 강도를 구분해서 보는 것이 이 주제를 이해하는 가장 정직한 방법입니다.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5410048" cy="4297680"/>
          </a:xfrm>
          <a:prstGeom prst="roundRect">
            <a:avLst>
              <a:gd name="adj" fmla="val 1915"/>
            </a:avLst>
          </a:prstGeom>
          <a:solidFill>
            <a:srgbClr val="DFF0E8"/>
          </a:solidFill>
          <a:ln w="12700">
            <a:solidFill>
              <a:srgbClr val="C4E0D2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3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74520"/>
            <a:ext cx="603504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042" y="2037466"/>
            <a:ext cx="277612" cy="2776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45336" y="1938528"/>
            <a:ext cx="403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E7D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확립된 것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86968" y="2688336"/>
            <a:ext cx="464195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3E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앞서 본 네 가지 작용 경로 — 동물과 사람 연구에서 반복 확인되었습니다</a:t>
            </a:r>
            <a:endParaRPr lang="en-US" sz="1250" dirty="0"/>
          </a:p>
          <a:p>
            <a:pPr algn="l"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3E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위약보다 뚜렷한 체중 감소와 혈당 개선 — 다수의 대규모 무작위배정 시험</a:t>
            </a:r>
            <a:endParaRPr lang="en-US" sz="1250" dirty="0"/>
          </a:p>
          <a:p>
            <a:pPr algn="l"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3E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심혈관 고위험군에서 주요 심혈관 사건 감소 — SELECT, LEADER 등</a:t>
            </a:r>
            <a:endParaRPr lang="en-US" sz="1250" dirty="0"/>
          </a:p>
          <a:p>
            <a:pPr algn="l"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3E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위장관 증상이 가장 흔한 부작용이며 대개 용량 증량 시기에 집중됩니다</a:t>
            </a:r>
            <a:endParaRPr lang="en-US" sz="1250" dirty="0"/>
          </a:p>
          <a:p>
            <a:pPr algn="l"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3E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단독 사용 시 저혈당 위험이 낮습니다 — 포도당 의존적 작용 때문입니다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78728" y="1627632"/>
            <a:ext cx="5410048" cy="4297680"/>
          </a:xfrm>
          <a:prstGeom prst="roundRect">
            <a:avLst>
              <a:gd name="adj" fmla="val 1915"/>
            </a:avLst>
          </a:prstGeom>
          <a:solidFill>
            <a:srgbClr val="FBF1DC"/>
          </a:solidFill>
          <a:ln w="12700">
            <a:solidFill>
              <a:srgbClr val="EBD9B4"/>
            </a:solidFill>
            <a:prstDash val="solid"/>
          </a:ln>
          <a:effectLst>
            <a:outerShdw sx="100000" sy="100000" kx="0" ky="0" algn="bl" rotWithShape="0" blurRad="127000" dist="25400" dir="5400000">
              <a:srgbClr val="0F2B3D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43904" y="1874520"/>
            <a:ext cx="603504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920" y="2049536"/>
            <a:ext cx="253472" cy="25347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21144" y="1938528"/>
            <a:ext cx="403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9C6B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불확실한 것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6662776" y="2688336"/>
            <a:ext cx="464195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3E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5~10년을 넘는 장기 안전성 자료는 아직 쌓이는 중입니다</a:t>
            </a:r>
            <a:endParaRPr lang="en-US" sz="1250" dirty="0"/>
          </a:p>
          <a:p>
            <a:pPr algn="l"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3E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설치류에서 관찰된 갑상선 C세포 종양이 사람에게도 의미가 있는지는 결론나지 않았습니다</a:t>
            </a:r>
            <a:endParaRPr lang="en-US" sz="1250" dirty="0"/>
          </a:p>
          <a:p>
            <a:pPr algn="l"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3E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근육량 감소가 장기 건강에 어떤 영향을 주는지, 어느 정도까지 막을 수 있는지</a:t>
            </a:r>
            <a:endParaRPr lang="en-US" sz="1250" dirty="0"/>
          </a:p>
          <a:p>
            <a:pPr algn="l"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3E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장기 체중 감소에서 “뇌의 식욕 억제”와 “위 배출 지연” 중 어느 쪽이 더 중요한지 — 위 배출 지연 효과는 시간이 지나며 약해진다는 보고가 있습니다</a:t>
            </a:r>
            <a:endParaRPr lang="en-US" sz="1250" dirty="0"/>
          </a:p>
          <a:p>
            <a:pPr algn="l"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3E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약을 평생 써야 하는지, 언제 어떻게 줄일 수 있는지에 대한 근거는 부족합니다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502920" y="6327648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B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“불확실”은 위험하다는 뜻이 아니라 아직 답이 정해지지 않았다는 뜻입니다.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F2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자료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33856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5570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발표의 수치와 기전 설명은 아래 문헌에서 인용했습니다.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11185855" cy="667512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" y="1764792"/>
            <a:ext cx="841248" cy="283464"/>
          </a:xfrm>
          <a:prstGeom prst="roundRect">
            <a:avLst>
              <a:gd name="adj" fmla="val 22581"/>
            </a:avLst>
          </a:prstGeom>
          <a:solidFill>
            <a:srgbClr val="DCEAF1"/>
          </a:solidFill>
          <a:ln w="12700">
            <a:solidFill>
              <a:srgbClr val="DCEA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2376" y="1764792"/>
            <a:ext cx="841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3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기전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664208"/>
            <a:ext cx="97228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3E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Drucker DJ. Mechanisms of Action and Therapeutic Application of Glucagon-like Peptide-1. Cell Metab. 2018;27(4):740-756.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290572"/>
            <a:ext cx="11185855" cy="667512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" y="2482596"/>
            <a:ext cx="841248" cy="283464"/>
          </a:xfrm>
          <a:prstGeom prst="roundRect">
            <a:avLst>
              <a:gd name="adj" fmla="val 22581"/>
            </a:avLst>
          </a:prstGeom>
          <a:solidFill>
            <a:srgbClr val="DCEAF1"/>
          </a:solidFill>
          <a:ln w="12700">
            <a:solidFill>
              <a:srgbClr val="DCEA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2376" y="2482596"/>
            <a:ext cx="841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3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기전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2382012"/>
            <a:ext cx="97228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3E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Müller TD, Finan B, Bloom SR, 외. Glucagon-like peptide 1 (GLP-1). Mol Metab. 2019;30:72-130.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008376"/>
            <a:ext cx="11185855" cy="667512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2376" y="3200400"/>
            <a:ext cx="841248" cy="283464"/>
          </a:xfrm>
          <a:prstGeom prst="roundRect">
            <a:avLst>
              <a:gd name="adj" fmla="val 22581"/>
            </a:avLst>
          </a:prstGeom>
          <a:solidFill>
            <a:srgbClr val="DCEAF1"/>
          </a:solidFill>
          <a:ln w="12700">
            <a:solidFill>
              <a:srgbClr val="DCEAF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2376" y="3200400"/>
            <a:ext cx="841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3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체중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3099816"/>
            <a:ext cx="97228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3E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Wilding JPH, Batterham RL, Calanna S, 외. Once-Weekly Semaglutide in Adults with Overweight or Obesity (STEP 1). N Engl J Med. 2021;384(11):989-1002.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726180"/>
            <a:ext cx="11185855" cy="667512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376" y="3918204"/>
            <a:ext cx="841248" cy="283464"/>
          </a:xfrm>
          <a:prstGeom prst="roundRect">
            <a:avLst>
              <a:gd name="adj" fmla="val 22581"/>
            </a:avLst>
          </a:prstGeom>
          <a:solidFill>
            <a:srgbClr val="DCEAF1"/>
          </a:solidFill>
          <a:ln w="12700">
            <a:solidFill>
              <a:srgbClr val="DCEAF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" y="3918204"/>
            <a:ext cx="841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3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중단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3817620"/>
            <a:ext cx="97228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3E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Wilding JPH, Batterham RL, Davies M, 외. Weight regain and cardiometabolic effects after withdrawal of semaglutide: the STEP 1 trial extension. Diabetes Obes Metab. 2022;24(8):1553-1564.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4443984"/>
            <a:ext cx="11185855" cy="667512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2376" y="4636008"/>
            <a:ext cx="841248" cy="283464"/>
          </a:xfrm>
          <a:prstGeom prst="roundRect">
            <a:avLst>
              <a:gd name="adj" fmla="val 22581"/>
            </a:avLst>
          </a:prstGeom>
          <a:solidFill>
            <a:srgbClr val="DCEAF1"/>
          </a:solidFill>
          <a:ln w="12700">
            <a:solidFill>
              <a:srgbClr val="DCEAF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2376" y="4636008"/>
            <a:ext cx="841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3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체중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691640" y="4535424"/>
            <a:ext cx="97228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3E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Jastreboff AM, Aronne LJ, Ahmad NN, 외. Tirzepatide Once Weekly for the Treatment of Obesity (SURMOUNT-1). N Engl J Med. 2022;387(3):205-216.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5161788"/>
            <a:ext cx="11185855" cy="667512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5353812"/>
            <a:ext cx="841248" cy="283464"/>
          </a:xfrm>
          <a:prstGeom prst="roundRect">
            <a:avLst>
              <a:gd name="adj" fmla="val 22581"/>
            </a:avLst>
          </a:prstGeom>
          <a:solidFill>
            <a:srgbClr val="DCEAF1"/>
          </a:solidFill>
          <a:ln w="12700">
            <a:solidFill>
              <a:srgbClr val="DCEAF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2376" y="5353812"/>
            <a:ext cx="841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3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심혈관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1691640" y="5253228"/>
            <a:ext cx="97228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3E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Lincoff AM, Brown-Frandsen K, Colhoun HM, 외. Semaglutide and Cardiovascular Outcomes in Obesity without Diabetes (SELECT). N Engl J Med. 2023;389(24):2221-2232.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6144768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B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약제별 허가사항과 용량은 국내 식품의약품안전처 허가정보 및 최신 진료지침을 확인하십시오.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20240" y="3703320"/>
            <a:ext cx="4572000" cy="4572000"/>
          </a:xfrm>
          <a:prstGeom prst="ellipse">
            <a:avLst/>
          </a:prstGeom>
          <a:solidFill>
            <a:srgbClr val="D9601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937760"/>
            <a:ext cx="566928" cy="566928"/>
          </a:xfrm>
          <a:prstGeom prst="ellipse">
            <a:avLst/>
          </a:prstGeom>
          <a:solidFill>
            <a:srgbClr val="D9601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463040" y="138988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spc="150" kern="0" dirty="0">
                <a:solidFill>
                  <a:srgbClr val="E9A8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문장으로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874520"/>
            <a:ext cx="9509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GLP-1 작용제는 ‘살을 빼는 약’이라기보다,</a:t>
            </a:r>
            <a:endParaRPr lang="en-US" sz="29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식사 후 몸이 스스로 보내는 포만·혈당 신호를</a:t>
            </a:r>
            <a:endParaRPr lang="en-US" sz="29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며칠 동안 켜 두는 약입니다.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422452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FC6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효과도, 부작용도, 끊었을 때 되돌아오는 것도</a:t>
            </a:r>
            <a:endParaRPr lang="en-US" sz="15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AFC6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같은 기전에서 따라 나옵니다.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463040" y="5349240"/>
            <a:ext cx="9326880" cy="713232"/>
          </a:xfrm>
          <a:prstGeom prst="roundRect">
            <a:avLst>
              <a:gd name="adj" fmla="val 11538"/>
            </a:avLst>
          </a:prstGeom>
          <a:solidFill>
            <a:srgbClr val="1B3E52"/>
          </a:solidFill>
          <a:ln w="12700">
            <a:solidFill>
              <a:srgbClr val="2E546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91640" y="5349240"/>
            <a:ext cx="8869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FC6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자료는 교육용입니다. 실제 사용 여부, 약제 선택, 용량은 개인의 상태에 따라 다르므로 반드시 진료 상담이 필요합니다.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GLP-1 작용제는 우리 몸에서 무슨 일을 할까?</dc:title>
  <dc:subject>PptxGenJS Presentation</dc:subject>
  <dc:creator>GLP-1 환자 교육 자료</dc:creator>
  <cp:lastModifiedBy>GLP-1 환자 교육 자료</cp:lastModifiedBy>
  <cp:revision>1</cp:revision>
  <dcterms:created xsi:type="dcterms:W3CDTF">2026-09-19T01:16:45Z</dcterms:created>
  <dcterms:modified xsi:type="dcterms:W3CDTF">2026-09-19T01:16:45Z</dcterms:modified>
</cp:coreProperties>
</file>