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평균 체중 변화 (%)</c:v>
                </c:pt>
              </c:strCache>
            </c:strRef>
          </c:tx>
          <c:spPr>
            <a:solidFill>
              <a:srgbClr val="B9C6CD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F2B3D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9C6C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6E8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C6C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9601F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위약 · STEP 1</c:v>
                  </c:pt>
                  <c:pt idx="1">
                    <c:v>세마글루타이드 2.4mg</c:v>
                  </c:pt>
                  <c:pt idx="2">
                    <c:v>위약 · SURMOUNT-1</c:v>
                  </c:pt>
                  <c:pt idx="3">
                    <c:v>터제파타이드 15mg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-2.4</c:v>
                </c:pt>
                <c:pt idx="1">
                  <c:v>-14.9</c:v>
                </c:pt>
                <c:pt idx="2">
                  <c:v>-3.1</c:v>
                </c:pt>
                <c:pt idx="3">
                  <c:v>-20.9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0F2B3D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1B3E52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"/>
          <c:min val="-26"/>
        </c:scaling>
        <c:delete val="0"/>
        <c:axPos val="b"/>
        <c:majorGridlines>
          <c:spPr>
            <a:ln w="12700" cap="flat">
              <a:solidFill>
                <a:srgbClr val="EDF2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BA3AF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도입: GLP-1 작용제를 "살 빼는 신약"으로만 아는 청중이 많습니다. 이 발표의 목표는 약이 무엇을 흉내내는지(우리 몸의 식후 호르몬), 어디에 작용하는지(뇌·위·췌장·간), 그리고 효과와 부작용이 그 기전에서 어떻게 따라 나오는지를 연결해 보여주는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메시지: GLP-1은 외부 물질이 아니라 우리 몸의 정상 식후 호르몬입니다. 인크레틴(incretin)이라 부릅니다. 반감기가 1~2분에 불과해(DPP-4에 의한 분해) 천연 호르몬 자체는 치료제가 될 수 없다는 점이 다음 장의 출발점입니다.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가지 변형이 핵심입니다: (1) DPP-4 절단 부위 변형, (2) 지방산 측쇄를 통한 알부민 결합으로 신장 배설 지연. 결과적으로 반감기가 1~2분에서 약 1주로 늘어납니다. 작용 자체는 천연 호르몬과 같은 GLP-1 수용체를 통해 일어난다는 점을 강조하십시오.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성분명과 상품명의 구분을 반드시 짚어 주십시오. 환자들은 "위고비"와 "오젬픽"을 다른 약으로 알고 오는 경우가 많지만 성분은 같은 세마글루타이드이며 허가 적응증과 용량이 다릅니다. 터제파타이드(마운자로)는 엄밀히 말해 순수 GLP-1 작용제가 아니라 GLP-1/GIP 이중 작용제입니다. 한미약품의 에페글레나타이드 등 국내 개발 약제도 상업화가 추진되고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발표의 중심입니다. 1번(뇌: 시상하부 궁상핵·후뇌 수용체)과 2번(위 배출 지연)이 체중 감소를, 3번(포도당 의존적 인슐린 분비 촉진)과 4번(글루카곤 억제 → 간 당 생성 감소)이 혈당 강하를 설명합니다. 체중 감소의 주된 동력은 식욕 억제이며, 위 배출 지연 효과는 시간이 지나며 약해질 수 있다는 보고가 있습니다(마지막 장의 불확실 항목).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포도당 의존성이 인크레틴 기반 치료의 가장 중요한 안전성 특징입니다. 설포닐우레아·인슐린 병용 시 저혈당 위험 증가는 약물 자체의 문제가 아니라 병용 약제 때문이며, 실제 진료에서 용량 감량이 필요합니다.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체중 변화는 STEP 1(세마글루타이드 2.4mg, 68주, -14.9% vs 위약 -2.4%)과 SURMOUNT-1(터제파타이드 15mg, 72주, -20.9% vs 위약 -3.1%)입니다. SELECT는 당뇨가 없는 과체중·비만 + 심혈관질환 환자에서 MACE를 20% 감소시켰습니다(HR 0.80, 95% CI 0.72-0.90). 시험 간 직접 비교가 아니라는 점을 반드시 언급하십시오.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구역 등 위장관 증상은 위 배출 지연의 직접적 결과로 설명하면 청중이 잘 이해합니다. 서서히 증량(dose escalation)이 핵심 대처입니다. 중단 후 체중 재증가는 STEP 1 연장 연구(Diabetes Obes Metab 2022)에서 68주 -17.3% → 120주 -5.6%로 보고되었습니다.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장은 청중이 언론 보도와 실제 근거를 구분하도록 돕습니다. 갑상선 C세포 종양은 설치류 데이터에 근거한 경고이며 사람에서의 인과관계는 확립되지 않았습니다. 다만 갑상선 수질암 병력·가족력, 다발성 내분비선종증 2형은 금기입니다.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필요하면 국내 지침(대한비만학회 비만 진료지침, 대한당뇨병학회 진료지침)을 추가로 인용하십시오.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마무리: 기전 → 효과 → 부작용 → 중단 후 재증가가 하나의 논리로 이어진다는 점을 다시 짚어 주십시오. 질의응답에서 가장 많이 나오는 질문은 (1) 평생 써야 하나요 (2) 근육이 빠지지 않나요 (3) 보험이 되나요 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여기서부터는 청중을 바꿔 잡으십시오. 일반인 대상 발표에서는 11장에서 끝내고, 의료진·대학원생 대상에서는 1~11장을 빠르게 넘긴 뒤 이 부록에 시간을 쓰는 구성을 권합니다.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같은 mRNA에서 조직 특이적 prohormone convertase 발현에 따라 다른 펩타이드가 나온다는 점이 핵심입니다. PC1/3는 장 L세포와 후뇌 NTS 뉴런에서, PC2는 췌장 α세포에서 우세합니다.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L세포가 개방형이라는 점, 즉 내강 영양소에 직접 노출된다는 점이 분비조절 이해의 출발점입니다. L세포 밀도는 원위 회장과 결장에서 가장 높지만 십이지장에도 존재합니다. SCFA 경로는 식이섬유·장내미생물과 GLP-1을 잇는 연결고리로, 최근 관심이 큰 영역입니다.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이상성 분비는 교과서적 서술이지만, 조기 상승의 기전은 여전히 논쟁적입니다. 근위–원위 축(proximal-distal loop)은 설치류에서 비교적 잘 기술되어 있으나 사람에서의 상대적 기여도는 확립되지 않았습니다. 십이지장에도 L세포가 있어 직접 자극이 조기 상승의 일부를 설명할 수 있다는 견해도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약 10~15%라는 수치는 추정치이며 측정법과 연구에 따라 폭이 있습니다. 중요한 것은 정확한 숫자가 아니라, 내인성 GLP-1의 생리적 작용을 전신 호르몬 농도만으로 설명하기 어렵다는 점입니다. 이 구분이 다음 장의 내인성-약물 비교로 이어집니다.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cAMP–PKA와 cAMP–Epac2 두 갈래가 인슐린 과립의 개구분비를 증폭합니다. 포도당 의존성은 KATP 통로가 포도당 대사에 의해 닫혀 있어야 한다는 전제에서 나옵니다. β-arrestin 모집과 수용체 내재화, 편향 작용제(biased agonism)는 신약 개발에서 활발히 연구되는 영역입니다.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부록의 실질적 결론입니다. 내인성 호르몬의 생리와 약물의 약리는 연속선상에 있지만 동일하지 않습니다. 환자가 "원래 몸에 있는 호르몬이니 안전하다"고 이해하는 흔한 오해를 여기서 교정할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Calanna 등의 메타분석(Diabetologia 2013)은 2형 당뇨 환자에서 총 GLP-1 분비가 일관되게 감소하지는 않는다고 보고했습니다. 이는 "당뇨병은 GLP-1 결핍 질환"이라는 단순화된 서술을 교정하는 근거로 자주 인용됩니다. 비만대사수술 후 GLP-1 증가는 수술의 대사 효과를 설명하는 주요 가설 중 하나입니다.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부록의 서술은 대부분 권위 있는 종설에 근거했습니다. 원 논문 수준의 근거가 필요하면 각 종설의 인용 문헌을 따라가십시오.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685800"/>
            <a:ext cx="5120640" cy="5120640"/>
          </a:xfrm>
          <a:prstGeom prst="ellipse">
            <a:avLst/>
          </a:prstGeom>
          <a:solidFill>
            <a:srgbClr val="D9601F">
              <a:alpha val="14000"/>
            </a:srgbClr>
          </a:solidFill>
          <a:ln w="15875">
            <a:solidFill>
              <a:srgbClr val="A452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195560" y="2148840"/>
            <a:ext cx="2194560" cy="2194560"/>
          </a:xfrm>
          <a:prstGeom prst="ellipse">
            <a:avLst/>
          </a:prstGeom>
          <a:solidFill>
            <a:srgbClr val="D9601F">
              <a:alpha val="28000"/>
            </a:srgbClr>
          </a:solidFill>
          <a:ln w="15875">
            <a:solidFill>
              <a:srgbClr val="A4522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00" y="2926080"/>
            <a:ext cx="640080" cy="640080"/>
          </a:xfrm>
          <a:prstGeom prst="ellipse">
            <a:avLst/>
          </a:prstGeom>
          <a:solidFill>
            <a:srgbClr val="D9601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5087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E9A87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일반인을 위한 그림 설명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965960"/>
            <a:ext cx="8046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GLP-1 작용제는</a:t>
            </a:r>
            <a:endParaRPr lang="en-US" sz="4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몸에서 무슨 일을 할까?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97764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AFC6D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식사 후 몸이 보내는 “이제 그만 먹어도 돼” 신호를,</a:t>
            </a:r>
            <a:endParaRPr lang="en-US" sz="150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AFC6D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약이 어떻게 오래 켜 두는지 그림으로 따라갑니다.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5897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E8B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교육용 자료 · 2026년 9월 · 근거: 주요 무작위배정 임상시험 및 종설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F2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먼저, GLP-1은 원래 내 몸이 만드는 호르몬입니다</a:t>
            </a:r>
            <a:endParaRPr lang="en-US" sz="3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133856"/>
            <a:ext cx="11185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이름이 아니라, 식사를 하면 창자가 뿜어내는 “식후 신호 호르몬”의 이름입니다.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1874520"/>
            <a:ext cx="2439848" cy="2697480"/>
          </a:xfrm>
          <a:prstGeom prst="roundRect">
            <a:avLst>
              <a:gd name="adj" fmla="val 3373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3D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2057400"/>
            <a:ext cx="365760" cy="365760"/>
          </a:xfrm>
          <a:prstGeom prst="ellipse">
            <a:avLst/>
          </a:prstGeom>
          <a:solidFill>
            <a:srgbClr val="1C6E8C"/>
          </a:solidFill>
          <a:ln w="12700">
            <a:solidFill>
              <a:srgbClr val="1C6E8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057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293076" y="2377440"/>
            <a:ext cx="859536" cy="859536"/>
          </a:xfrm>
          <a:prstGeom prst="ellipse">
            <a:avLst/>
          </a:prstGeom>
          <a:solidFill>
            <a:srgbClr val="DCEAF1"/>
          </a:solidFill>
          <a:ln w="12700">
            <a:solidFill>
              <a:srgbClr val="DCEAF1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9365" y="2583729"/>
            <a:ext cx="446959" cy="446959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30936" y="3355848"/>
            <a:ext cx="2183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53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음식을 먹는다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667512" y="3739896"/>
            <a:ext cx="21106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음식이 위를 지나 작은창자에 닿습니다.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034208" y="3063240"/>
            <a:ext cx="292608" cy="274320"/>
          </a:xfrm>
          <a:prstGeom prst="rightArrow">
            <a:avLst/>
          </a:prstGeom>
          <a:solidFill>
            <a:srgbClr val="8BA3AF"/>
          </a:solidFill>
          <a:ln w="12700">
            <a:solidFill>
              <a:srgbClr val="8BA3A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418256" y="1874520"/>
            <a:ext cx="2439848" cy="2697480"/>
          </a:xfrm>
          <a:prstGeom prst="roundRect">
            <a:avLst>
              <a:gd name="adj" fmla="val 3373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3D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601136" y="2057400"/>
            <a:ext cx="365760" cy="365760"/>
          </a:xfrm>
          <a:prstGeom prst="ellipse">
            <a:avLst/>
          </a:prstGeom>
          <a:solidFill>
            <a:srgbClr val="1C6E8C"/>
          </a:solidFill>
          <a:ln w="12700">
            <a:solidFill>
              <a:srgbClr val="1C6E8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601136" y="2057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208412" y="2377440"/>
            <a:ext cx="859536" cy="859536"/>
          </a:xfrm>
          <a:prstGeom prst="ellipse">
            <a:avLst/>
          </a:prstGeom>
          <a:solidFill>
            <a:srgbClr val="DCEAF1"/>
          </a:solidFill>
          <a:ln w="12700">
            <a:solidFill>
              <a:srgbClr val="DCEAF1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4700" y="2583729"/>
            <a:ext cx="446959" cy="446959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3546272" y="3355848"/>
            <a:ext cx="2183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53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창자가 알아챈다</a:t>
            </a:r>
            <a:endParaRPr lang="en-US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3582848" y="3739896"/>
            <a:ext cx="21106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작은창자·큰창자 벽의 L세포가 영양분을 감지합니다.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5949544" y="3063240"/>
            <a:ext cx="292608" cy="274320"/>
          </a:xfrm>
          <a:prstGeom prst="rightArrow">
            <a:avLst/>
          </a:prstGeom>
          <a:solidFill>
            <a:srgbClr val="8BA3AF"/>
          </a:solidFill>
          <a:ln w="12700">
            <a:solidFill>
              <a:srgbClr val="8BA3AF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333592" y="1874520"/>
            <a:ext cx="2439848" cy="2697480"/>
          </a:xfrm>
          <a:prstGeom prst="roundRect">
            <a:avLst>
              <a:gd name="adj" fmla="val 3373"/>
            </a:avLst>
          </a:prstGeom>
          <a:solidFill>
            <a:srgbClr val="FBE6D9"/>
          </a:solidFill>
          <a:ln w="12700">
            <a:solidFill>
              <a:srgbClr val="F0CDB6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3D">
                <a:alpha val="10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516472" y="2057400"/>
            <a:ext cx="365760" cy="365760"/>
          </a:xfrm>
          <a:prstGeom prst="ellipse">
            <a:avLst/>
          </a:prstGeom>
          <a:solidFill>
            <a:srgbClr val="D9601F"/>
          </a:solidFill>
          <a:ln w="12700">
            <a:solidFill>
              <a:srgbClr val="D9601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516472" y="2057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7123747" y="2377440"/>
            <a:ext cx="859536" cy="8595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0036" y="2583729"/>
            <a:ext cx="446959" cy="446959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6461608" y="3355848"/>
            <a:ext cx="2183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60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GLP-1이 나온다</a:t>
            </a:r>
            <a:endParaRPr lang="en-US" sz="1600" dirty="0"/>
          </a:p>
        </p:txBody>
      </p:sp>
      <p:sp>
        <p:nvSpPr>
          <p:cNvPr id="26" name="Text 21"/>
          <p:cNvSpPr txBox="1"/>
          <p:nvPr/>
        </p:nvSpPr>
        <p:spPr>
          <a:xfrm>
            <a:off x="6498184" y="3739896"/>
            <a:ext cx="21106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L세포가 GLP-1 호르몬을 혈액으로 내보냅니다.</a:t>
            </a:r>
            <a:endParaRPr lang="en-US" sz="1150" dirty="0"/>
          </a:p>
        </p:txBody>
      </p:sp>
      <p:sp>
        <p:nvSpPr>
          <p:cNvPr id="27" name="Shape 22"/>
          <p:cNvSpPr/>
          <p:nvPr/>
        </p:nvSpPr>
        <p:spPr>
          <a:xfrm>
            <a:off x="8864879" y="3063240"/>
            <a:ext cx="292608" cy="274320"/>
          </a:xfrm>
          <a:prstGeom prst="rightArrow">
            <a:avLst/>
          </a:prstGeom>
          <a:solidFill>
            <a:srgbClr val="8BA3AF"/>
          </a:solidFill>
          <a:ln w="12700">
            <a:solidFill>
              <a:srgbClr val="8BA3AF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9248927" y="1874520"/>
            <a:ext cx="2439848" cy="2697480"/>
          </a:xfrm>
          <a:prstGeom prst="roundRect">
            <a:avLst>
              <a:gd name="adj" fmla="val 3373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3D">
                <a:alpha val="10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9431807" y="2057400"/>
            <a:ext cx="365760" cy="365760"/>
          </a:xfrm>
          <a:prstGeom prst="ellipse">
            <a:avLst/>
          </a:prstGeom>
          <a:solidFill>
            <a:srgbClr val="1C6E8C"/>
          </a:solidFill>
          <a:ln w="12700">
            <a:solidFill>
              <a:srgbClr val="1C6E8C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9431807" y="2057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31" name="Shape 26"/>
          <p:cNvSpPr/>
          <p:nvPr/>
        </p:nvSpPr>
        <p:spPr>
          <a:xfrm>
            <a:off x="10039083" y="2377440"/>
            <a:ext cx="859536" cy="859536"/>
          </a:xfrm>
          <a:prstGeom prst="ellipse">
            <a:avLst/>
          </a:prstGeom>
          <a:solidFill>
            <a:srgbClr val="DCEAF1"/>
          </a:solidFill>
          <a:ln w="12700">
            <a:solidFill>
              <a:srgbClr val="DCEAF1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5372" y="2583729"/>
            <a:ext cx="446959" cy="446959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9376943" y="3355848"/>
            <a:ext cx="2183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53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뇌·췌장에 전달된다</a:t>
            </a:r>
            <a:endParaRPr lang="en-US" sz="1600" dirty="0"/>
          </a:p>
        </p:txBody>
      </p:sp>
      <p:sp>
        <p:nvSpPr>
          <p:cNvPr id="34" name="Text 28"/>
          <p:cNvSpPr txBox="1"/>
          <p:nvPr/>
        </p:nvSpPr>
        <p:spPr>
          <a:xfrm>
            <a:off x="9413519" y="3739896"/>
            <a:ext cx="21106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“충분히 먹었다”는 신호가 온몸으로 퍼집니다.</a:t>
            </a:r>
            <a:endParaRPr lang="en-US" sz="1150" dirty="0"/>
          </a:p>
        </p:txBody>
      </p:sp>
      <p:sp>
        <p:nvSpPr>
          <p:cNvPr id="35" name="Shape 29"/>
          <p:cNvSpPr/>
          <p:nvPr/>
        </p:nvSpPr>
        <p:spPr>
          <a:xfrm>
            <a:off x="502920" y="4846320"/>
            <a:ext cx="11185855" cy="1097280"/>
          </a:xfrm>
          <a:prstGeom prst="roundRect">
            <a:avLst>
              <a:gd name="adj" fmla="val 7500"/>
            </a:avLst>
          </a:prstGeom>
          <a:solidFill>
            <a:srgbClr val="FBF1DC"/>
          </a:solidFill>
          <a:ln w="12700">
            <a:solidFill>
              <a:srgbClr val="EBD9B4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3D">
                <a:alpha val="10000"/>
              </a:srgbClr>
            </a:outerShdw>
          </a:effectLst>
        </p:spPr>
      </p:sp>
      <p:sp>
        <p:nvSpPr>
          <p:cNvPr id="36" name="Shape 30"/>
          <p:cNvSpPr/>
          <p:nvPr/>
        </p:nvSpPr>
        <p:spPr>
          <a:xfrm>
            <a:off x="758952" y="5084064"/>
            <a:ext cx="621792" cy="6217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5239512"/>
            <a:ext cx="310896" cy="310896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1508760" y="5029200"/>
            <a:ext cx="9951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00" b="1" dirty="0">
                <a:solidFill>
                  <a:srgbClr val="9C6B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— 천연 GLP-1은 1~2분이면 사라집니다.  </a:t>
            </a:r>
            <a:pPr algn="l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B3E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혈액 속 DPP-4라는 효소가 즉시 잘라 버리기 때문입니다. 그래서 내 몸이 만드는 GLP-1을 그대로 약으로 쓸 수는 없습니다.</a:t>
            </a:r>
            <a:endParaRPr lang="en-US" sz="1300" dirty="0"/>
          </a:p>
        </p:txBody>
      </p:sp>
      <p:sp>
        <p:nvSpPr>
          <p:cNvPr id="39" name="Text 32"/>
          <p:cNvSpPr txBox="1"/>
          <p:nvPr/>
        </p:nvSpPr>
        <p:spPr>
          <a:xfrm>
            <a:off x="502920" y="6327648"/>
            <a:ext cx="11185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8B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그림은 개념 설명을 위한 단순화 도식입니다. 출처: Drucker DJ. Cell Metab 2018; Müller TD 외. Mol Metab 2019.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F2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약은 “오래 버티도록 고친 복제품”입니다</a:t>
            </a:r>
            <a:endParaRPr lang="en-US" sz="3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133856"/>
            <a:ext cx="11185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새로운 작용을 더한 것이 아니라, 같은 신호가 며칠 동안 유지되도록 구조만 바꿔 놓은 것입니다.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1645920"/>
            <a:ext cx="541004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3D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920240"/>
            <a:ext cx="47699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몸의 천연 GLP-1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04288"/>
            <a:ext cx="4769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1~2</a:t>
            </a:r>
            <a:pPr algn="l" indent="0" marL="0">
              <a:buNone/>
            </a:pPr>
            <a:r>
              <a:rPr lang="en-US" sz="2200" b="1" dirty="0">
                <a:solidFill>
                  <a:srgbClr val="8B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분</a:t>
            </a:r>
            <a:endParaRPr lang="en-US" sz="5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18688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DPP-4 효소에 바로 잘려 사라집니다.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8728" y="1645920"/>
            <a:ext cx="5410048" cy="2148840"/>
          </a:xfrm>
          <a:prstGeom prst="roundRect">
            <a:avLst>
              <a:gd name="adj" fmla="val 3830"/>
            </a:avLst>
          </a:prstGeom>
          <a:solidFill>
            <a:srgbClr val="1C6E8C"/>
          </a:solidFill>
          <a:ln w="12700">
            <a:solidFill>
              <a:srgbClr val="1C6E8C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3D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598768" y="1920240"/>
            <a:ext cx="47699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CDCE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1회 세마글루타이드 (오젬픽·위고비)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598768" y="2304288"/>
            <a:ext cx="4769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7</a:t>
            </a:r>
            <a:pPr algn="l" indent="0" marL="0">
              <a:buNone/>
            </a:pPr>
            <a:r>
              <a:rPr lang="en-US" sz="2200" b="1" dirty="0">
                <a:solidFill>
                  <a:srgbClr val="BCDCE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일</a:t>
            </a:r>
            <a:endParaRPr lang="en-US" sz="5600" dirty="0"/>
          </a:p>
        </p:txBody>
      </p:sp>
      <p:sp>
        <p:nvSpPr>
          <p:cNvPr id="11" name="Text 9"/>
          <p:cNvSpPr txBox="1"/>
          <p:nvPr/>
        </p:nvSpPr>
        <p:spPr>
          <a:xfrm>
            <a:off x="6598768" y="3218688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6EAF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반감기 약 165시간 → 주 1회 주사로 농도가 유지됩니다.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3977640"/>
            <a:ext cx="11185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2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오래 버티게 만들었나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02920" y="4370832"/>
            <a:ext cx="353354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3D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58952" y="4626864"/>
            <a:ext cx="384048" cy="384048"/>
          </a:xfrm>
          <a:prstGeom prst="ellipse">
            <a:avLst/>
          </a:prstGeom>
          <a:solidFill>
            <a:srgbClr val="1C6E8C"/>
          </a:solidFill>
          <a:ln w="12700">
            <a:solidFill>
              <a:srgbClr val="1C6E8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8952" y="4626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52728" y="4608576"/>
            <a:ext cx="252770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53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잘리는 자리를 바꿈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138928"/>
            <a:ext cx="298490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DPP-4가 자르던 부위를 살짝 변형해 분해를 피합니다.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29074" y="4370832"/>
            <a:ext cx="353354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3D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85106" y="4626864"/>
            <a:ext cx="384048" cy="384048"/>
          </a:xfrm>
          <a:prstGeom prst="ellipse">
            <a:avLst/>
          </a:prstGeom>
          <a:solidFill>
            <a:srgbClr val="1C6E8C"/>
          </a:solidFill>
          <a:ln w="12700">
            <a:solidFill>
              <a:srgbClr val="1C6E8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85106" y="4626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078882" y="4608576"/>
            <a:ext cx="252770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53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알부민에 업혀 다님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603394" y="5138928"/>
            <a:ext cx="298490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지방산 사슬을 붙여 혈액 단백질에 붙어 다니므로 콩팥으로 덜 빠져나갑니다.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155229" y="4370832"/>
            <a:ext cx="353354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3D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411261" y="4626864"/>
            <a:ext cx="384048" cy="384048"/>
          </a:xfrm>
          <a:prstGeom prst="ellipse">
            <a:avLst/>
          </a:prstGeom>
          <a:solidFill>
            <a:srgbClr val="1C6E8C"/>
          </a:solidFill>
          <a:ln w="12700">
            <a:solidFill>
              <a:srgbClr val="1C6E8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411261" y="4626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905037" y="4608576"/>
            <a:ext cx="252770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53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주 1회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429549" y="5138928"/>
            <a:ext cx="298490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1회 주사, 또는 매일 먹는 경구제로도 농도를 유지할 수 있습니다.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02920" y="6327648"/>
            <a:ext cx="11185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8B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수치는 세마글루타이드 기준이며 약제마다 다릅니다(리라글루타이드는 매일 주사). 출처: Müller TD 외. Mol Metab 2019.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F2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어떤 약들인가 — 성분명과 상품명</a:t>
            </a:r>
            <a:endParaRPr lang="en-US" sz="3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133856"/>
            <a:ext cx="11185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성분명이 약의 본명이고, 상품명은 회사가 붙인 이름입니다. 같은 성분이 용도에 따라 다른 이름으로 팔립니다.</a:t>
            </a:r>
            <a:endParaRPr lang="en-US" sz="14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91056"/>
          <a:ext cx="11185855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2606040"/>
                <a:gridCol w="2331720"/>
                <a:gridCol w="4099255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성분명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8016" marR="128016" marT="0" marB="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6E8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상품명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8016" marR="128016" marT="0" marB="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6E8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투여 방법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8016" marR="128016" marT="0" marB="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6E8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주요 허가 적응증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8016" marR="128016" marT="0" marB="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6E8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536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세마글루타이드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8016" marR="128016" marT="0" marB="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3E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위고비 (Wegovy)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8016" marR="128016" marT="0" marB="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3E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 1회 피하주사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8016" marR="128016" marT="0" marB="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D960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체중 감량 (비만)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8016" marR="128016" marT="0" marB="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D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536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세마글루타이드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8016" marR="128016" marT="0" marB="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3E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오젬픽 (Ozempic)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8016" marR="128016" marT="0" marB="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3E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 1회 피하주사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8016" marR="128016" marT="0" marB="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3E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2형 당뇨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8016" marR="128016" marT="0" marB="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536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세마글루타이드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8016" marR="128016" marT="0" marB="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3E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리벨서스 (Rybelsus)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8016" marR="128016" marT="0" marB="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536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매일 1회 먹는 알약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8016" marR="128016" marT="0" marB="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3E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2형 당뇨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8016" marR="128016" marT="0" marB="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536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터제파타이드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8016" marR="128016" marT="0" marB="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3E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마운자로 (Mounjaro)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8016" marR="128016" marT="0" marB="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3E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 1회 피하주사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8016" marR="128016" marT="0" marB="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D960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2형 당뇨 + 체중 감량  ※GLP-1과 GIP에 함께 작용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8016" marR="128016" marT="0" marB="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D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536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리라글루타이드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8016" marR="128016" marT="0" marB="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3E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삭센다 (Saxenda)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8016" marR="128016" marT="0" marB="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3E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매일 1회 피하주사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8016" marR="128016" marT="0" marB="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D960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체중 감량 (비만)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8016" marR="128016" marT="0" marB="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D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536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리라글루타이드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8016" marR="128016" marT="0" marB="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3E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빅토자 (Victoza)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8016" marR="128016" marT="0" marB="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3E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매일 1회 피하주사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8016" marR="128016" marT="0" marB="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3E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2형 당뇨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8016" marR="128016" marT="0" marB="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536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둘라글루타이드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8016" marR="128016" marT="0" marB="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3E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트루리시티 (Trulicity)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8016" marR="128016" marT="0" marB="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3E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 1회 피하주사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8016" marR="128016" marT="0" marB="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3E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2형 당뇨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8016" marR="128016" marT="0" marB="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5394960"/>
            <a:ext cx="11185855" cy="786384"/>
          </a:xfrm>
          <a:prstGeom prst="roundRect">
            <a:avLst>
              <a:gd name="adj" fmla="val 10465"/>
            </a:avLst>
          </a:prstGeom>
          <a:solidFill>
            <a:srgbClr val="FBF1DC"/>
          </a:solidFill>
          <a:ln w="12700">
            <a:solidFill>
              <a:srgbClr val="EBD9B4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3D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22376" y="5650992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FBE6D9"/>
          </a:solidFill>
          <a:ln w="12700">
            <a:solidFill>
              <a:srgbClr val="F0CDB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24712" y="5504688"/>
            <a:ext cx="103171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9C6B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주황색 줄 = 체중 감량 적응증으로 허가된 약입니다.  </a:t>
            </a:r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3E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허가 적응증과 국내 공급 상황은 자주 바뀌므로, 처방 전 식품의약품안전처 허가정보를 확인하십시오.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272784"/>
            <a:ext cx="11185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8B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미국에서는 터제파타이드의 체중 감량 적응증이 젭바운드(Zepbound)로 판매됩니다. 엑세나타이드·릭시세나타이드는 초기 세대 약제입니다. 표는 2026년 중반 기준입니다.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F2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약은 네 곳에 동시에 말을 겁니다</a:t>
            </a:r>
            <a:endParaRPr lang="en-US" sz="3300" dirty="0"/>
          </a:p>
        </p:txBody>
      </p:sp>
      <p:sp>
        <p:nvSpPr>
          <p:cNvPr id="3" name="Shape 1"/>
          <p:cNvSpPr/>
          <p:nvPr/>
        </p:nvSpPr>
        <p:spPr>
          <a:xfrm>
            <a:off x="4495648" y="1298448"/>
            <a:ext cx="3200400" cy="804672"/>
          </a:xfrm>
          <a:prstGeom prst="roundRect">
            <a:avLst>
              <a:gd name="adj" fmla="val 50000"/>
            </a:avLst>
          </a:prstGeom>
          <a:solidFill>
            <a:srgbClr val="D9601F"/>
          </a:solidFill>
          <a:ln/>
          <a:effectLst>
            <a:outerShdw sx="100000" sy="100000" kx="0" ky="0" algn="bl" rotWithShape="0" blurRad="127000" dist="25400" dir="5400000">
              <a:srgbClr val="0F2B3D">
                <a:alpha val="1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4495648" y="1298448"/>
            <a:ext cx="3200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GLP-1 작용제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095848" y="2103120"/>
            <a:ext cx="0" cy="420624"/>
          </a:xfrm>
          <a:prstGeom prst="line">
            <a:avLst/>
          </a:prstGeom>
          <a:noFill/>
          <a:ln w="22225">
            <a:solidFill>
              <a:srgbClr val="8BA3A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05140" y="2523744"/>
            <a:ext cx="8581415" cy="0"/>
          </a:xfrm>
          <a:prstGeom prst="line">
            <a:avLst/>
          </a:prstGeom>
          <a:noFill/>
          <a:ln w="22225">
            <a:solidFill>
              <a:srgbClr val="8BA3A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05140" y="2523744"/>
            <a:ext cx="0" cy="347472"/>
          </a:xfrm>
          <a:prstGeom prst="line">
            <a:avLst/>
          </a:prstGeom>
          <a:noFill/>
          <a:ln w="22225">
            <a:solidFill>
              <a:srgbClr val="8BA3A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665612" y="2523744"/>
            <a:ext cx="0" cy="347472"/>
          </a:xfrm>
          <a:prstGeom prst="line">
            <a:avLst/>
          </a:prstGeom>
          <a:noFill/>
          <a:ln w="22225">
            <a:solidFill>
              <a:srgbClr val="8BA3A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526084" y="2523744"/>
            <a:ext cx="0" cy="347472"/>
          </a:xfrm>
          <a:prstGeom prst="line">
            <a:avLst/>
          </a:prstGeom>
          <a:noFill/>
          <a:ln w="22225">
            <a:solidFill>
              <a:srgbClr val="8BA3A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10386555" y="2523744"/>
            <a:ext cx="0" cy="347472"/>
          </a:xfrm>
          <a:prstGeom prst="line">
            <a:avLst/>
          </a:prstGeom>
          <a:noFill/>
          <a:ln w="22225">
            <a:solidFill>
              <a:srgbClr val="8BA3A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02920" y="2907792"/>
            <a:ext cx="2604440" cy="3127248"/>
          </a:xfrm>
          <a:prstGeom prst="roundRect">
            <a:avLst>
              <a:gd name="adj" fmla="val 316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3D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85800" y="3090672"/>
            <a:ext cx="365760" cy="365760"/>
          </a:xfrm>
          <a:prstGeom prst="ellipse">
            <a:avLst/>
          </a:prstGeom>
          <a:solidFill>
            <a:srgbClr val="D9601F"/>
          </a:solidFill>
          <a:ln w="12700">
            <a:solidFill>
              <a:srgbClr val="D9601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090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57084" y="3355848"/>
            <a:ext cx="896112" cy="896112"/>
          </a:xfrm>
          <a:prstGeom prst="ellipse">
            <a:avLst/>
          </a:prstGeom>
          <a:solidFill>
            <a:srgbClr val="DCEAF1"/>
          </a:solidFill>
          <a:ln w="12700">
            <a:solidFill>
              <a:srgbClr val="DCEAF1"/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2151" y="3570915"/>
            <a:ext cx="465978" cy="46597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12648" y="4352544"/>
            <a:ext cx="2384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53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49224" y="4754880"/>
            <a:ext cx="2311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배고픔 신호를 줄입니다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49224" y="5449824"/>
            <a:ext cx="2311832" cy="438912"/>
          </a:xfrm>
          <a:prstGeom prst="roundRect">
            <a:avLst>
              <a:gd name="adj" fmla="val 14583"/>
            </a:avLst>
          </a:prstGeom>
          <a:solidFill>
            <a:srgbClr val="FBE6D9"/>
          </a:solidFill>
          <a:ln w="12700">
            <a:solidFill>
              <a:srgbClr val="FBE6D9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9224" y="5449824"/>
            <a:ext cx="2311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60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덜 먹고, 더 빨리 배부름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3363392" y="2907792"/>
            <a:ext cx="2604440" cy="3127248"/>
          </a:xfrm>
          <a:prstGeom prst="roundRect">
            <a:avLst>
              <a:gd name="adj" fmla="val 316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3D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3546272" y="3090672"/>
            <a:ext cx="365760" cy="365760"/>
          </a:xfrm>
          <a:prstGeom prst="ellipse">
            <a:avLst/>
          </a:prstGeom>
          <a:solidFill>
            <a:srgbClr val="D9601F"/>
          </a:solidFill>
          <a:ln w="12700">
            <a:solidFill>
              <a:srgbClr val="D9601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546272" y="3090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217556" y="3355848"/>
            <a:ext cx="896112" cy="896112"/>
          </a:xfrm>
          <a:prstGeom prst="ellipse">
            <a:avLst/>
          </a:prstGeom>
          <a:solidFill>
            <a:srgbClr val="DCEAF1"/>
          </a:solidFill>
          <a:ln w="12700">
            <a:solidFill>
              <a:srgbClr val="DCEAF1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2623" y="3570915"/>
            <a:ext cx="465978" cy="465978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3473120" y="4352544"/>
            <a:ext cx="2384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53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</a:t>
            </a:r>
            <a:endParaRPr lang="en-US" sz="2000" dirty="0"/>
          </a:p>
        </p:txBody>
      </p:sp>
      <p:sp>
        <p:nvSpPr>
          <p:cNvPr id="26" name="Text 22"/>
          <p:cNvSpPr txBox="1"/>
          <p:nvPr/>
        </p:nvSpPr>
        <p:spPr>
          <a:xfrm>
            <a:off x="3509696" y="4754880"/>
            <a:ext cx="2311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위가 천천히 비워집니다</a:t>
            </a:r>
            <a:endParaRPr lang="en-US" sz="1250" dirty="0"/>
          </a:p>
        </p:txBody>
      </p:sp>
      <p:sp>
        <p:nvSpPr>
          <p:cNvPr id="27" name="Shape 23"/>
          <p:cNvSpPr/>
          <p:nvPr/>
        </p:nvSpPr>
        <p:spPr>
          <a:xfrm>
            <a:off x="3509696" y="5449824"/>
            <a:ext cx="2311832" cy="438912"/>
          </a:xfrm>
          <a:prstGeom prst="roundRect">
            <a:avLst>
              <a:gd name="adj" fmla="val 14583"/>
            </a:avLst>
          </a:prstGeom>
          <a:solidFill>
            <a:srgbClr val="FBE6D9"/>
          </a:solidFill>
          <a:ln w="12700">
            <a:solidFill>
              <a:srgbClr val="FBE6D9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3509696" y="5449824"/>
            <a:ext cx="2311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60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포만감이 오래 지속됨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6223864" y="2907792"/>
            <a:ext cx="2604440" cy="3127248"/>
          </a:xfrm>
          <a:prstGeom prst="roundRect">
            <a:avLst>
              <a:gd name="adj" fmla="val 316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3D">
                <a:alpha val="10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6406744" y="3090672"/>
            <a:ext cx="365760" cy="365760"/>
          </a:xfrm>
          <a:prstGeom prst="ellipse">
            <a:avLst/>
          </a:prstGeom>
          <a:solidFill>
            <a:srgbClr val="D9601F"/>
          </a:solidFill>
          <a:ln w="12700">
            <a:solidFill>
              <a:srgbClr val="D9601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6406744" y="3090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7078028" y="3355848"/>
            <a:ext cx="896112" cy="896112"/>
          </a:xfrm>
          <a:prstGeom prst="ellipse">
            <a:avLst/>
          </a:prstGeom>
          <a:solidFill>
            <a:srgbClr val="DCEAF1"/>
          </a:solidFill>
          <a:ln w="12700">
            <a:solidFill>
              <a:srgbClr val="DCEAF1"/>
            </a:solidFill>
            <a:prstDash val="solid"/>
          </a:ln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3094" y="3570915"/>
            <a:ext cx="465978" cy="465978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6333592" y="4352544"/>
            <a:ext cx="2384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53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췌장</a:t>
            </a:r>
            <a:endParaRPr lang="en-US" sz="2000" dirty="0"/>
          </a:p>
        </p:txBody>
      </p:sp>
      <p:sp>
        <p:nvSpPr>
          <p:cNvPr id="35" name="Text 30"/>
          <p:cNvSpPr txBox="1"/>
          <p:nvPr/>
        </p:nvSpPr>
        <p:spPr>
          <a:xfrm>
            <a:off x="6370168" y="4754880"/>
            <a:ext cx="2311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혈당이 높을 때만</a:t>
            </a:r>
            <a:endParaRPr lang="en-US" sz="12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인슐린을 더 냅니다</a:t>
            </a:r>
            <a:endParaRPr lang="en-US" sz="1250" dirty="0"/>
          </a:p>
        </p:txBody>
      </p:sp>
      <p:sp>
        <p:nvSpPr>
          <p:cNvPr id="36" name="Shape 31"/>
          <p:cNvSpPr/>
          <p:nvPr/>
        </p:nvSpPr>
        <p:spPr>
          <a:xfrm>
            <a:off x="6370168" y="5449824"/>
            <a:ext cx="2311832" cy="438912"/>
          </a:xfrm>
          <a:prstGeom prst="roundRect">
            <a:avLst>
              <a:gd name="adj" fmla="val 14583"/>
            </a:avLst>
          </a:prstGeom>
          <a:solidFill>
            <a:srgbClr val="FBE6D9"/>
          </a:solidFill>
          <a:ln w="12700">
            <a:solidFill>
              <a:srgbClr val="FBE6D9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6370168" y="5449824"/>
            <a:ext cx="2311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60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식후 혈당이 덜 오름</a:t>
            </a:r>
            <a:endParaRPr lang="en-US" sz="1100" dirty="0"/>
          </a:p>
        </p:txBody>
      </p:sp>
      <p:sp>
        <p:nvSpPr>
          <p:cNvPr id="38" name="Shape 33"/>
          <p:cNvSpPr/>
          <p:nvPr/>
        </p:nvSpPr>
        <p:spPr>
          <a:xfrm>
            <a:off x="9084335" y="2907792"/>
            <a:ext cx="2604440" cy="3127248"/>
          </a:xfrm>
          <a:prstGeom prst="roundRect">
            <a:avLst>
              <a:gd name="adj" fmla="val 316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3D">
                <a:alpha val="10000"/>
              </a:srgbClr>
            </a:outerShdw>
          </a:effectLst>
        </p:spPr>
      </p:sp>
      <p:sp>
        <p:nvSpPr>
          <p:cNvPr id="39" name="Shape 34"/>
          <p:cNvSpPr/>
          <p:nvPr/>
        </p:nvSpPr>
        <p:spPr>
          <a:xfrm>
            <a:off x="9267215" y="3090672"/>
            <a:ext cx="365760" cy="365760"/>
          </a:xfrm>
          <a:prstGeom prst="ellipse">
            <a:avLst/>
          </a:prstGeom>
          <a:solidFill>
            <a:srgbClr val="D9601F"/>
          </a:solidFill>
          <a:ln w="12700">
            <a:solidFill>
              <a:srgbClr val="D9601F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9267215" y="3090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41" name="Shape 36"/>
          <p:cNvSpPr/>
          <p:nvPr/>
        </p:nvSpPr>
        <p:spPr>
          <a:xfrm>
            <a:off x="9938499" y="3355848"/>
            <a:ext cx="896112" cy="896112"/>
          </a:xfrm>
          <a:prstGeom prst="ellipse">
            <a:avLst/>
          </a:prstGeom>
          <a:solidFill>
            <a:srgbClr val="DCEAF1"/>
          </a:solidFill>
          <a:ln w="12700">
            <a:solidFill>
              <a:srgbClr val="DCEAF1"/>
            </a:solidFill>
            <a:prstDash val="solid"/>
          </a:ln>
        </p:spPr>
      </p:sp>
      <p:pic>
        <p:nvPicPr>
          <p:cNvPr id="4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53566" y="3570915"/>
            <a:ext cx="465978" cy="465978"/>
          </a:xfrm>
          <a:prstGeom prst="rect">
            <a:avLst/>
          </a:prstGeom>
        </p:spPr>
      </p:pic>
      <p:sp>
        <p:nvSpPr>
          <p:cNvPr id="43" name="Text 37"/>
          <p:cNvSpPr txBox="1"/>
          <p:nvPr/>
        </p:nvSpPr>
        <p:spPr>
          <a:xfrm>
            <a:off x="9194063" y="4352544"/>
            <a:ext cx="2384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53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</a:t>
            </a:r>
            <a:endParaRPr lang="en-US" sz="2000" dirty="0"/>
          </a:p>
        </p:txBody>
      </p:sp>
      <p:sp>
        <p:nvSpPr>
          <p:cNvPr id="44" name="Text 38"/>
          <p:cNvSpPr txBox="1"/>
          <p:nvPr/>
        </p:nvSpPr>
        <p:spPr>
          <a:xfrm>
            <a:off x="9230639" y="4754880"/>
            <a:ext cx="2311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간이 내보내는 당을</a:t>
            </a:r>
            <a:endParaRPr lang="en-US" sz="12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줄입니다</a:t>
            </a:r>
            <a:endParaRPr lang="en-US" sz="1250" dirty="0"/>
          </a:p>
        </p:txBody>
      </p:sp>
      <p:sp>
        <p:nvSpPr>
          <p:cNvPr id="45" name="Shape 39"/>
          <p:cNvSpPr/>
          <p:nvPr/>
        </p:nvSpPr>
        <p:spPr>
          <a:xfrm>
            <a:off x="9230639" y="5449824"/>
            <a:ext cx="2311832" cy="438912"/>
          </a:xfrm>
          <a:prstGeom prst="roundRect">
            <a:avLst>
              <a:gd name="adj" fmla="val 14583"/>
            </a:avLst>
          </a:prstGeom>
          <a:solidFill>
            <a:srgbClr val="FBE6D9"/>
          </a:solidFill>
          <a:ln w="12700">
            <a:solidFill>
              <a:srgbClr val="FBE6D9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9230639" y="5449824"/>
            <a:ext cx="2311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60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공복 혈당이 내려감</a:t>
            </a:r>
            <a:endParaRPr lang="en-US" sz="1100" dirty="0"/>
          </a:p>
        </p:txBody>
      </p:sp>
      <p:sp>
        <p:nvSpPr>
          <p:cNvPr id="47" name="Text 41"/>
          <p:cNvSpPr txBox="1"/>
          <p:nvPr/>
        </p:nvSpPr>
        <p:spPr>
          <a:xfrm>
            <a:off x="502920" y="6327648"/>
            <a:ext cx="11185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8B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가지 작용은 동물 및 사람 연구에서 반복적으로 확인된 확립된 기전입니다. 출처: Drucker DJ. Cell Metab 2018; Müller TD 외. Mol Metab 2019.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F2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“혈당이 높을 때만” 켜지는 스위치</a:t>
            </a:r>
            <a:endParaRPr lang="en-US" sz="3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133856"/>
            <a:ext cx="11185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인슐린을 무조건 더 내게 하는 약이 아니라, 혈당이 올라가 있을 때만 작용이 세지는 약입니다.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1627632"/>
            <a:ext cx="5410048" cy="2724912"/>
          </a:xfrm>
          <a:prstGeom prst="roundRect">
            <a:avLst>
              <a:gd name="adj" fmla="val 3020"/>
            </a:avLst>
          </a:prstGeom>
          <a:solidFill>
            <a:srgbClr val="FBE6D9"/>
          </a:solidFill>
          <a:ln w="12700">
            <a:solidFill>
              <a:srgbClr val="F0CDB6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3D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50392" y="188366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spc="200" kern="0" dirty="0">
                <a:solidFill>
                  <a:srgbClr val="D960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850392" y="2377440"/>
            <a:ext cx="471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2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식사 직후 — 혈당이 올라갈 때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86968" y="2852928"/>
            <a:ext cx="46419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3E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췌장 베타세포의 인슐린 분비를 강하게 돕습니다</a:t>
            </a:r>
            <a:endParaRPr lang="en-US" sz="125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3E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혈당을 올리는 글루카곤은 함께 억제합니다</a:t>
            </a:r>
            <a:endParaRPr lang="en-US" sz="125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3E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결과: 식후 혈당이 완만하게 올라갑니다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78728" y="1627632"/>
            <a:ext cx="5410048" cy="2724912"/>
          </a:xfrm>
          <a:prstGeom prst="roundRect">
            <a:avLst>
              <a:gd name="adj" fmla="val 302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3D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626200" y="1883664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spc="200" kern="0" dirty="0">
                <a:solidFill>
                  <a:srgbClr val="8B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OFF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6626200" y="2377440"/>
            <a:ext cx="471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2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공복 — 혈당이 정상일 때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662776" y="2852928"/>
            <a:ext cx="46419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인슐린을 더 내라는 자극이 거의 사라집니다</a:t>
            </a:r>
            <a:endParaRPr lang="en-US" sz="125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억제되던 글루카곤도 다시 제 역할을 합니다</a:t>
            </a:r>
            <a:endParaRPr lang="en-US" sz="125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결과: 혈당을 정상 아래로 끌어내리지 않습니다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4773168"/>
            <a:ext cx="11185855" cy="1207008"/>
          </a:xfrm>
          <a:prstGeom prst="roundRect">
            <a:avLst>
              <a:gd name="adj" fmla="val 6818"/>
            </a:avLst>
          </a:prstGeom>
          <a:solidFill>
            <a:srgbClr val="FBF1DC"/>
          </a:solidFill>
          <a:ln w="12700">
            <a:solidFill>
              <a:srgbClr val="EBD9B4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3D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58952" y="5065776"/>
            <a:ext cx="621792" cy="6217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6836" y="5233660"/>
            <a:ext cx="286024" cy="286024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1508760" y="4974336"/>
            <a:ext cx="9951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00" b="1" dirty="0">
                <a:solidFill>
                  <a:srgbClr val="9C6B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이 약만 쓸 때는 저혈당이 드뭅니다. 단, 예외가 있습니다.  </a:t>
            </a:r>
            <a:pPr algn="l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B3E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설포닐우레아 계열 약이나 인슐린과 함께 쓰면 저혈당 위험이 올라가므로, 기존 약의 용량을 줄여야 할 수 있습니다. 반드시 처방의와 상의하십시오.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02920" y="6327648"/>
            <a:ext cx="11185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8B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“포도당 의존적(glucose-dependent)” 작용이라 부릅니다. 출처: Drucker DJ. Cell Metab 2018.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F2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효과: 임상시험에서 확인된 숫자</a:t>
            </a:r>
            <a:endParaRPr lang="en-US" sz="3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133856"/>
            <a:ext cx="11185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위약과 비교한 대규모 무작위배정 임상시험 결과입니다.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1627632"/>
            <a:ext cx="6903720" cy="4041648"/>
          </a:xfrm>
          <a:prstGeom prst="roundRect">
            <a:avLst>
              <a:gd name="adj" fmla="val 2036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3D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13816" y="1847088"/>
            <a:ext cx="6281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2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68~72주 후 평균 체중 변화 (%)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67512" y="2249424"/>
          <a:ext cx="6501384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813816" y="5065776"/>
            <a:ext cx="6281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세마글루타이드 2.4mg = 위고비, 터제파타이드 15mg = 마운자로. 터제파타이드는 GLP-1과 GIP 두 수용체에 함께 작용합니다.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717536" y="1627632"/>
            <a:ext cx="3971239" cy="2139696"/>
          </a:xfrm>
          <a:prstGeom prst="roundRect">
            <a:avLst>
              <a:gd name="adj" fmla="val 3846"/>
            </a:avLst>
          </a:prstGeom>
          <a:solidFill>
            <a:srgbClr val="1C6E8C"/>
          </a:solidFill>
          <a:ln w="12700">
            <a:solidFill>
              <a:srgbClr val="1C6E8C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3D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982712" y="1874520"/>
            <a:ext cx="603504" cy="603504"/>
          </a:xfrm>
          <a:prstGeom prst="ellipse">
            <a:avLst/>
          </a:prstGeom>
          <a:solidFill>
            <a:srgbClr val="14536B"/>
          </a:solidFill>
          <a:ln w="12700">
            <a:solidFill>
              <a:srgbClr val="14536B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3588" y="2025396"/>
            <a:ext cx="301752" cy="30175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96528" y="1865376"/>
            <a:ext cx="25996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20%</a:t>
            </a:r>
            <a:pPr algn="l" indent="0" marL="0">
              <a:buNone/>
            </a:pPr>
            <a:r>
              <a:rPr lang="en-US" sz="1700" b="1" dirty="0">
                <a:solidFill>
                  <a:srgbClr val="BCDCE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감소</a:t>
            </a:r>
            <a:endParaRPr lang="en-US" sz="4400" dirty="0"/>
          </a:p>
        </p:txBody>
      </p:sp>
      <p:sp>
        <p:nvSpPr>
          <p:cNvPr id="12" name="Text 8"/>
          <p:cNvSpPr txBox="1"/>
          <p:nvPr/>
        </p:nvSpPr>
        <p:spPr>
          <a:xfrm>
            <a:off x="8046720" y="2542032"/>
            <a:ext cx="3312871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6EAF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위약보다 주요 심혈관 사건(심혈관 사망·심근경색·뇌졸중)이 20% 적었습니다.</a:t>
            </a:r>
            <a:endParaRPr lang="en-US" sz="11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6EAF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대상: 심혈관질환이 있고 당뇨는 없는 과체중·비만 성인 (SELECT, 위험비 0.80).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7717536" y="3950208"/>
            <a:ext cx="3971239" cy="1719072"/>
          </a:xfrm>
          <a:prstGeom prst="roundRect">
            <a:avLst>
              <a:gd name="adj" fmla="val 4787"/>
            </a:avLst>
          </a:prstGeom>
          <a:solidFill>
            <a:srgbClr val="FBF1DC"/>
          </a:solidFill>
          <a:ln w="12700">
            <a:solidFill>
              <a:srgbClr val="EBD9B4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3D">
                <a:alpha val="10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8046720" y="4187952"/>
            <a:ext cx="33128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9C6B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숫자를 읽을 때 주의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8083296" y="4553712"/>
            <a:ext cx="3239719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3E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다른 시험의 결과이며 직접 비교가 아닙니다</a:t>
            </a:r>
            <a:endParaRPr lang="en-US" sz="105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3E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식사·운동 상담이 함께 제공되었습니다</a:t>
            </a:r>
            <a:endParaRPr lang="en-US" sz="105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3E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평균값이며 개인차가 큽니다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502920" y="6327648"/>
            <a:ext cx="11185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8B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Wilding JPH 외. N Engl J Med 2021;384:989 (STEP 1) · Jastreboff AM 외. N Engl J Med 2022;387:205 (SURMOUNT-1) · Lincoff AM 외. N Engl J Med 2023;389:2221 (SELECT).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F2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부작용과 알아둘 점</a:t>
            </a:r>
            <a:endParaRPr lang="en-US" sz="3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133856"/>
            <a:ext cx="11185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대부분은 앞서 본 작용 기전에서 그대로 따라 나옵니다 — 위가 천천히 비워지니 속이 불편한 것입니다.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85855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691640"/>
            <a:ext cx="603504" cy="603504"/>
          </a:xfrm>
          <a:prstGeom prst="ellipse">
            <a:avLst/>
          </a:prstGeom>
          <a:solidFill>
            <a:srgbClr val="DCEAF1"/>
          </a:solidFill>
          <a:ln w="12700">
            <a:solidFill>
              <a:srgbClr val="DCEAF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684" y="1842516"/>
            <a:ext cx="301752" cy="30175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527048" y="1728216"/>
            <a:ext cx="1060704" cy="274320"/>
          </a:xfrm>
          <a:prstGeom prst="roundRect">
            <a:avLst>
              <a:gd name="adj" fmla="val 23333"/>
            </a:avLst>
          </a:prstGeom>
          <a:solidFill>
            <a:srgbClr val="FBE6D9"/>
          </a:solidFill>
          <a:ln w="12700">
            <a:solidFill>
              <a:srgbClr val="FBE6D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527048" y="1728216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60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흔함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2697480" y="1700784"/>
            <a:ext cx="2788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453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구역 · 구토 · 설사 · 변비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2697480" y="1993392"/>
            <a:ext cx="87169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세마글루타이드 2.4mg 시험에서 구역 약 44%(위약 17%). 주로 초기와 증량 시기에 생기고 시간이 지나며 줄어듭니다. 용량을 천천히 올리는 것이 표준 대처법입니다.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02920" y="2459736"/>
            <a:ext cx="11185855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49808" y="2578608"/>
            <a:ext cx="603504" cy="603504"/>
          </a:xfrm>
          <a:prstGeom prst="ellipse">
            <a:avLst/>
          </a:prstGeom>
          <a:solidFill>
            <a:srgbClr val="DCEAF1"/>
          </a:solidFill>
          <a:ln w="12700">
            <a:solidFill>
              <a:srgbClr val="DCEAF1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" y="2729484"/>
            <a:ext cx="301752" cy="301752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1527048" y="2615184"/>
            <a:ext cx="1060704" cy="274320"/>
          </a:xfrm>
          <a:prstGeom prst="roundRect">
            <a:avLst>
              <a:gd name="adj" fmla="val 23333"/>
            </a:avLst>
          </a:prstGeom>
          <a:solidFill>
            <a:srgbClr val="FBE6D9"/>
          </a:solidFill>
          <a:ln w="12700">
            <a:solidFill>
              <a:srgbClr val="FBE6D9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1527048" y="2615184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60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드물지만 증가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2697480" y="2587752"/>
            <a:ext cx="2788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453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담석 · 담낭 질환</a:t>
            </a:r>
            <a:endParaRPr lang="en-US" sz="1450" dirty="0"/>
          </a:p>
        </p:txBody>
      </p:sp>
      <p:sp>
        <p:nvSpPr>
          <p:cNvPr id="17" name="Text 13"/>
          <p:cNvSpPr txBox="1"/>
          <p:nvPr/>
        </p:nvSpPr>
        <p:spPr>
          <a:xfrm>
            <a:off x="2697480" y="2880360"/>
            <a:ext cx="87169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담낭 관련 이상반응 2.6% 대 위약 1.2%. 빠른 체중 감소 자체와도 관련이 있습니다.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502920" y="3346704"/>
            <a:ext cx="11185855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49808" y="3465576"/>
            <a:ext cx="603504" cy="603504"/>
          </a:xfrm>
          <a:prstGeom prst="ellipse">
            <a:avLst/>
          </a:prstGeom>
          <a:solidFill>
            <a:srgbClr val="DCEAF1"/>
          </a:solidFill>
          <a:ln w="12700">
            <a:solidFill>
              <a:srgbClr val="DCEAF1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684" y="3616452"/>
            <a:ext cx="301752" cy="301752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1527048" y="3502152"/>
            <a:ext cx="1060704" cy="274320"/>
          </a:xfrm>
          <a:prstGeom prst="roundRect">
            <a:avLst>
              <a:gd name="adj" fmla="val 23333"/>
            </a:avLst>
          </a:prstGeom>
          <a:solidFill>
            <a:srgbClr val="FBE6D9"/>
          </a:solidFill>
          <a:ln w="12700">
            <a:solidFill>
              <a:srgbClr val="FBE6D9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1527048" y="350215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60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드묾</a:t>
            </a:r>
            <a:endParaRPr lang="en-US" sz="950" dirty="0"/>
          </a:p>
        </p:txBody>
      </p:sp>
      <p:sp>
        <p:nvSpPr>
          <p:cNvPr id="23" name="Text 18"/>
          <p:cNvSpPr txBox="1"/>
          <p:nvPr/>
        </p:nvSpPr>
        <p:spPr>
          <a:xfrm>
            <a:off x="2697480" y="3474720"/>
            <a:ext cx="2788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453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췌장염</a:t>
            </a:r>
            <a:endParaRPr lang="en-US" sz="1450" dirty="0"/>
          </a:p>
        </p:txBody>
      </p:sp>
      <p:sp>
        <p:nvSpPr>
          <p:cNvPr id="24" name="Text 19"/>
          <p:cNvSpPr txBox="1"/>
          <p:nvPr/>
        </p:nvSpPr>
        <p:spPr>
          <a:xfrm>
            <a:off x="2697480" y="3767328"/>
            <a:ext cx="87169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보고되어 있으나 드물며, 대규모 심혈관 결과 시험에서 위약보다 뚜렷이 증가한다는 근거는 확인되지 않았습니다.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502920" y="4233672"/>
            <a:ext cx="11185855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749808" y="4352544"/>
            <a:ext cx="603504" cy="603504"/>
          </a:xfrm>
          <a:prstGeom prst="ellipse">
            <a:avLst/>
          </a:prstGeom>
          <a:solidFill>
            <a:srgbClr val="DCEAF1"/>
          </a:solidFill>
          <a:ln w="12700">
            <a:solidFill>
              <a:srgbClr val="DCEAF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684" y="4503420"/>
            <a:ext cx="301752" cy="301752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1527048" y="4389120"/>
            <a:ext cx="1060704" cy="274320"/>
          </a:xfrm>
          <a:prstGeom prst="roundRect">
            <a:avLst>
              <a:gd name="adj" fmla="val 23333"/>
            </a:avLst>
          </a:prstGeom>
          <a:solidFill>
            <a:srgbClr val="FBE6D9"/>
          </a:solidFill>
          <a:ln w="12700">
            <a:solidFill>
              <a:srgbClr val="FBE6D9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1527048" y="4389120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60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 필요</a:t>
            </a:r>
            <a:endParaRPr lang="en-US" sz="950" dirty="0"/>
          </a:p>
        </p:txBody>
      </p:sp>
      <p:sp>
        <p:nvSpPr>
          <p:cNvPr id="30" name="Text 24"/>
          <p:cNvSpPr txBox="1"/>
          <p:nvPr/>
        </p:nvSpPr>
        <p:spPr>
          <a:xfrm>
            <a:off x="2697480" y="4361688"/>
            <a:ext cx="2788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453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근육량 감소</a:t>
            </a:r>
            <a:endParaRPr lang="en-US" sz="1450" dirty="0"/>
          </a:p>
        </p:txBody>
      </p:sp>
      <p:sp>
        <p:nvSpPr>
          <p:cNvPr id="31" name="Text 25"/>
          <p:cNvSpPr txBox="1"/>
          <p:nvPr/>
        </p:nvSpPr>
        <p:spPr>
          <a:xfrm>
            <a:off x="2697480" y="4654296"/>
            <a:ext cx="87169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빠진 체중의 일부는 지방이 아닌 제지방(근육 포함)입니다. 충분한 단백질 섭취와 근력 운동이 권고됩니다.</a:t>
            </a:r>
            <a:endParaRPr lang="en-US" sz="1050" dirty="0"/>
          </a:p>
        </p:txBody>
      </p:sp>
      <p:sp>
        <p:nvSpPr>
          <p:cNvPr id="32" name="Shape 26"/>
          <p:cNvSpPr/>
          <p:nvPr/>
        </p:nvSpPr>
        <p:spPr>
          <a:xfrm>
            <a:off x="502920" y="5120640"/>
            <a:ext cx="11185855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749808" y="5239512"/>
            <a:ext cx="603504" cy="603504"/>
          </a:xfrm>
          <a:prstGeom prst="ellipse">
            <a:avLst/>
          </a:prstGeom>
          <a:solidFill>
            <a:srgbClr val="DCEAF1"/>
          </a:solidFill>
          <a:ln w="12700">
            <a:solidFill>
              <a:srgbClr val="DCEAF1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684" y="5390388"/>
            <a:ext cx="301752" cy="301752"/>
          </a:xfrm>
          <a:prstGeom prst="rect">
            <a:avLst/>
          </a:prstGeom>
        </p:spPr>
      </p:pic>
      <p:sp>
        <p:nvSpPr>
          <p:cNvPr id="35" name="Shape 28"/>
          <p:cNvSpPr/>
          <p:nvPr/>
        </p:nvSpPr>
        <p:spPr>
          <a:xfrm>
            <a:off x="1527048" y="5276088"/>
            <a:ext cx="1060704" cy="274320"/>
          </a:xfrm>
          <a:prstGeom prst="roundRect">
            <a:avLst>
              <a:gd name="adj" fmla="val 23333"/>
            </a:avLst>
          </a:prstGeom>
          <a:solidFill>
            <a:srgbClr val="FBE6D9"/>
          </a:solidFill>
          <a:ln w="12700">
            <a:solidFill>
              <a:srgbClr val="FBE6D9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1527048" y="5276088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60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중요</a:t>
            </a:r>
            <a:endParaRPr lang="en-US" sz="950" dirty="0"/>
          </a:p>
        </p:txBody>
      </p:sp>
      <p:sp>
        <p:nvSpPr>
          <p:cNvPr id="37" name="Text 30"/>
          <p:cNvSpPr txBox="1"/>
          <p:nvPr/>
        </p:nvSpPr>
        <p:spPr>
          <a:xfrm>
            <a:off x="2697480" y="5248656"/>
            <a:ext cx="2788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453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끊으면 체중이 돌아옵니다</a:t>
            </a:r>
            <a:endParaRPr lang="en-US" sz="1450" dirty="0"/>
          </a:p>
        </p:txBody>
      </p:sp>
      <p:sp>
        <p:nvSpPr>
          <p:cNvPr id="38" name="Text 31"/>
          <p:cNvSpPr txBox="1"/>
          <p:nvPr/>
        </p:nvSpPr>
        <p:spPr>
          <a:xfrm>
            <a:off x="2697480" y="5541264"/>
            <a:ext cx="87169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 연장 연구에서 중단 1년 후 감량분의 약 3분의 2가 되돌아왔습니다. 비만은 장기 관리가 필요한 상태로 봅니다.</a:t>
            </a:r>
            <a:endParaRPr lang="en-US" sz="1050" dirty="0"/>
          </a:p>
        </p:txBody>
      </p:sp>
      <p:sp>
        <p:nvSpPr>
          <p:cNvPr id="39" name="Text 32"/>
          <p:cNvSpPr txBox="1"/>
          <p:nvPr/>
        </p:nvSpPr>
        <p:spPr>
          <a:xfrm>
            <a:off x="502920" y="6053328"/>
            <a:ext cx="11185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8B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갑상선 수질암 병력·가족력이 있으면 사용하지 않습니다(설치류 자료에 근거한 경고이며 사람에서의 인과관계는 미확립 — 다음 장). 출처: Wilding JPH 외. NEJM 2021; Diabetes Obes Metab 2022.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F2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확실한 것과, 아직 모르는 것</a:t>
            </a:r>
            <a:endParaRPr lang="en-US" sz="3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133856"/>
            <a:ext cx="11185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근거의 강도를 구분해서 보는 것이 이 주제를 이해하는 가장 정직한 방법입니다.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1627632"/>
            <a:ext cx="5410048" cy="4297680"/>
          </a:xfrm>
          <a:prstGeom prst="roundRect">
            <a:avLst>
              <a:gd name="adj" fmla="val 1915"/>
            </a:avLst>
          </a:prstGeom>
          <a:solidFill>
            <a:srgbClr val="DFF0E8"/>
          </a:solidFill>
          <a:ln w="12700">
            <a:solidFill>
              <a:srgbClr val="C4E0D2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3D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874520"/>
            <a:ext cx="603504" cy="6035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1042" y="2037466"/>
            <a:ext cx="277612" cy="2776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45336" y="1938528"/>
            <a:ext cx="40384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E7D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근거가 확립된 것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86968" y="2688336"/>
            <a:ext cx="464195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3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1B3E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앞서 본 네 가지 작용 경로 — 동물과 사람 연구에서 반복 확인되었습니다</a:t>
            </a:r>
            <a:endParaRPr lang="en-US" sz="1250" dirty="0"/>
          </a:p>
          <a:p>
            <a:pPr algn="l" marL="342900" indent="-342900">
              <a:lnSpc>
                <a:spcPct val="13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1B3E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위약보다 뚜렷한 체중 감소와 혈당 개선 — 다수의 대규모 무작위배정 시험</a:t>
            </a:r>
            <a:endParaRPr lang="en-US" sz="1250" dirty="0"/>
          </a:p>
          <a:p>
            <a:pPr algn="l" marL="342900" indent="-342900">
              <a:lnSpc>
                <a:spcPct val="13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1B3E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심혈관 고위험군에서 주요 심혈관 사건 감소 — SELECT, LEADER 등</a:t>
            </a:r>
            <a:endParaRPr lang="en-US" sz="1250" dirty="0"/>
          </a:p>
          <a:p>
            <a:pPr algn="l" marL="342900" indent="-342900">
              <a:lnSpc>
                <a:spcPct val="13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1B3E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위장관 증상이 가장 흔한 부작용이며 대개 용량 증량 시기에 집중됩니다</a:t>
            </a:r>
            <a:endParaRPr lang="en-US" sz="1250" dirty="0"/>
          </a:p>
          <a:p>
            <a:pPr algn="l" marL="342900" indent="-342900">
              <a:lnSpc>
                <a:spcPct val="13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1B3E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단독 사용 시 저혈당 위험이 낮습니다 — 포도당 의존적 작용 때문입니다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78728" y="1627632"/>
            <a:ext cx="5410048" cy="4297680"/>
          </a:xfrm>
          <a:prstGeom prst="roundRect">
            <a:avLst>
              <a:gd name="adj" fmla="val 1915"/>
            </a:avLst>
          </a:prstGeom>
          <a:solidFill>
            <a:srgbClr val="FBF1DC"/>
          </a:solidFill>
          <a:ln w="12700">
            <a:solidFill>
              <a:srgbClr val="EBD9B4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3D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43904" y="1874520"/>
            <a:ext cx="603504" cy="6035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8920" y="2049536"/>
            <a:ext cx="253472" cy="25347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21144" y="1938528"/>
            <a:ext cx="40384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9C6B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아직 불확실한 것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6662776" y="2688336"/>
            <a:ext cx="464195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3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1B3E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5~10년을 넘는 장기 안전성 자료는 아직 쌓이는 중입니다</a:t>
            </a:r>
            <a:endParaRPr lang="en-US" sz="1250" dirty="0"/>
          </a:p>
          <a:p>
            <a:pPr algn="l" marL="342900" indent="-342900">
              <a:lnSpc>
                <a:spcPct val="13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1B3E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설치류에서 관찰된 갑상선 C세포 종양이 사람에게도 의미가 있는지는 결론나지 않았습니다</a:t>
            </a:r>
            <a:endParaRPr lang="en-US" sz="1250" dirty="0"/>
          </a:p>
          <a:p>
            <a:pPr algn="l" marL="342900" indent="-342900">
              <a:lnSpc>
                <a:spcPct val="13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1B3E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근육량 감소가 장기 건강에 어떤 영향을 주는지, 어느 정도까지 막을 수 있는지</a:t>
            </a:r>
            <a:endParaRPr lang="en-US" sz="1250" dirty="0"/>
          </a:p>
          <a:p>
            <a:pPr algn="l" marL="342900" indent="-342900">
              <a:lnSpc>
                <a:spcPct val="13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1B3E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장기 체중 감소에서 “뇌의 식욕 억제”와 “위 배출 지연” 중 어느 쪽이 더 중요한지 — 위 배출 지연 효과는 시간이 지나며 약해진다는 보고가 있습니다</a:t>
            </a:r>
            <a:endParaRPr lang="en-US" sz="1250" dirty="0"/>
          </a:p>
          <a:p>
            <a:pPr algn="l" marL="342900" indent="-342900">
              <a:lnSpc>
                <a:spcPct val="13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1B3E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약을 평생 써야 하는지, 언제 어떻게 줄일 수 있는지에 대한 근거는 부족합니다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502920" y="6327648"/>
            <a:ext cx="11185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8B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“불확실”은 위험하다는 뜻이 아니라 아직 답이 정해지지 않았다는 뜻입니다.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F2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자료</a:t>
            </a:r>
            <a:endParaRPr lang="en-US" sz="3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133856"/>
            <a:ext cx="11185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발표의 수치와 기전 설명은 아래 문헌에서 인용했습니다.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85855" cy="667512"/>
          </a:xfrm>
          <a:prstGeom prst="roundRect">
            <a:avLst>
              <a:gd name="adj" fmla="val 12329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2376" y="1764792"/>
            <a:ext cx="841248" cy="283464"/>
          </a:xfrm>
          <a:prstGeom prst="roundRect">
            <a:avLst>
              <a:gd name="adj" fmla="val 22581"/>
            </a:avLst>
          </a:prstGeom>
          <a:solidFill>
            <a:srgbClr val="DCEAF1"/>
          </a:solidFill>
          <a:ln w="12700">
            <a:solidFill>
              <a:srgbClr val="DCEAF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22376" y="1764792"/>
            <a:ext cx="8412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453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기전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1664208"/>
            <a:ext cx="97228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B3E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Drucker DJ. Mechanisms of Action and Therapeutic Application of Glucagon-like Peptide-1. Cell Metab. 2018;27(4):740-756.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2290572"/>
            <a:ext cx="11185855" cy="667512"/>
          </a:xfrm>
          <a:prstGeom prst="roundRect">
            <a:avLst>
              <a:gd name="adj" fmla="val 12329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22376" y="2482596"/>
            <a:ext cx="841248" cy="283464"/>
          </a:xfrm>
          <a:prstGeom prst="roundRect">
            <a:avLst>
              <a:gd name="adj" fmla="val 22581"/>
            </a:avLst>
          </a:prstGeom>
          <a:solidFill>
            <a:srgbClr val="DCEAF1"/>
          </a:solidFill>
          <a:ln w="12700">
            <a:solidFill>
              <a:srgbClr val="DCEAF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22376" y="2482596"/>
            <a:ext cx="8412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453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기전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691640" y="2382012"/>
            <a:ext cx="97228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B3E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Müller TD, Finan B, Bloom SR, 외. Glucagon-like peptide 1 (GLP-1). Mol Metab. 2019;30:72-130.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3008376"/>
            <a:ext cx="11185855" cy="667512"/>
          </a:xfrm>
          <a:prstGeom prst="roundRect">
            <a:avLst>
              <a:gd name="adj" fmla="val 12329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22376" y="3200400"/>
            <a:ext cx="841248" cy="283464"/>
          </a:xfrm>
          <a:prstGeom prst="roundRect">
            <a:avLst>
              <a:gd name="adj" fmla="val 22581"/>
            </a:avLst>
          </a:prstGeom>
          <a:solidFill>
            <a:srgbClr val="DCEAF1"/>
          </a:solidFill>
          <a:ln w="12700">
            <a:solidFill>
              <a:srgbClr val="DCEAF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2376" y="3200400"/>
            <a:ext cx="8412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453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체중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1691640" y="3099816"/>
            <a:ext cx="97228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B3E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Wilding JPH, Batterham RL, Calanna S, 외. Once-Weekly Semaglutide in Adults with Overweight or Obesity (STEP 1). N Engl J Med. 2021;384(11):989-1002.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3726180"/>
            <a:ext cx="11185855" cy="667512"/>
          </a:xfrm>
          <a:prstGeom prst="roundRect">
            <a:avLst>
              <a:gd name="adj" fmla="val 12329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2376" y="3918204"/>
            <a:ext cx="841248" cy="283464"/>
          </a:xfrm>
          <a:prstGeom prst="roundRect">
            <a:avLst>
              <a:gd name="adj" fmla="val 22581"/>
            </a:avLst>
          </a:prstGeom>
          <a:solidFill>
            <a:srgbClr val="DCEAF1"/>
          </a:solidFill>
          <a:ln w="12700">
            <a:solidFill>
              <a:srgbClr val="DCEAF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22376" y="3918204"/>
            <a:ext cx="8412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453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중단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1691640" y="3817620"/>
            <a:ext cx="97228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B3E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Wilding JPH, Batterham RL, Davies M, 외. Weight regain and cardiometabolic effects after withdrawal of semaglutide: the STEP 1 trial extension. Diabetes Obes Metab. 2022;24(8):1553-1564.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02920" y="4443984"/>
            <a:ext cx="11185855" cy="667512"/>
          </a:xfrm>
          <a:prstGeom prst="roundRect">
            <a:avLst>
              <a:gd name="adj" fmla="val 12329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22376" y="4636008"/>
            <a:ext cx="841248" cy="283464"/>
          </a:xfrm>
          <a:prstGeom prst="roundRect">
            <a:avLst>
              <a:gd name="adj" fmla="val 22581"/>
            </a:avLst>
          </a:prstGeom>
          <a:solidFill>
            <a:srgbClr val="DCEAF1"/>
          </a:solidFill>
          <a:ln w="12700">
            <a:solidFill>
              <a:srgbClr val="DCEAF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2376" y="4636008"/>
            <a:ext cx="8412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453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체중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1691640" y="4535424"/>
            <a:ext cx="97228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B3E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Jastreboff AM, Aronne LJ, Ahmad NN, 외. Tirzepatide Once Weekly for the Treatment of Obesity (SURMOUNT-1). N Engl J Med. 2022;387(3):205-216.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02920" y="5161788"/>
            <a:ext cx="11185855" cy="667512"/>
          </a:xfrm>
          <a:prstGeom prst="roundRect">
            <a:avLst>
              <a:gd name="adj" fmla="val 12329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2376" y="5353812"/>
            <a:ext cx="841248" cy="283464"/>
          </a:xfrm>
          <a:prstGeom prst="roundRect">
            <a:avLst>
              <a:gd name="adj" fmla="val 22581"/>
            </a:avLst>
          </a:prstGeom>
          <a:solidFill>
            <a:srgbClr val="DCEAF1"/>
          </a:solidFill>
          <a:ln w="12700">
            <a:solidFill>
              <a:srgbClr val="DCEAF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2376" y="5353812"/>
            <a:ext cx="8412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453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심혈관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1691640" y="5253228"/>
            <a:ext cx="97228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B3E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Lincoff AM, Brown-Frandsen K, Colhoun HM, 외. Semaglutide and Cardiovascular Outcomes in Obesity without Diabetes (SELECT). N Engl J Med. 2023;389(24):2221-2232.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502920" y="6144768"/>
            <a:ext cx="11185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8B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약제별 허가사항과 용량은 국내 식품의약품안전처 허가정보 및 최신 진료지침을 확인하십시오.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2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920240" y="3703320"/>
            <a:ext cx="4572000" cy="4572000"/>
          </a:xfrm>
          <a:prstGeom prst="ellipse">
            <a:avLst/>
          </a:prstGeom>
          <a:solidFill>
            <a:srgbClr val="D9601F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937760"/>
            <a:ext cx="566928" cy="566928"/>
          </a:xfrm>
          <a:prstGeom prst="ellipse">
            <a:avLst/>
          </a:prstGeom>
          <a:solidFill>
            <a:srgbClr val="D9601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63040" y="1389888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spc="150" kern="0" dirty="0">
                <a:solidFill>
                  <a:srgbClr val="E9A87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문장으로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1874520"/>
            <a:ext cx="95097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GLP-1 작용제는 ‘살을 빼는 약’이라기보다,</a:t>
            </a:r>
            <a:endParaRPr lang="en-US" sz="29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식사 후 몸이 스스로 보내는 포만·혈당 신호를</a:t>
            </a:r>
            <a:endParaRPr lang="en-US" sz="29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며칠 동안 켜 두는 약입니다.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422452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AFC6D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효과도, 부작용도, 끊었을 때 되돌아오는 것도</a:t>
            </a:r>
            <a:endParaRPr lang="en-US" sz="150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AFC6D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같은 기전에서 따라 나옵니다.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463040" y="5349240"/>
            <a:ext cx="9326880" cy="713232"/>
          </a:xfrm>
          <a:prstGeom prst="roundRect">
            <a:avLst>
              <a:gd name="adj" fmla="val 11538"/>
            </a:avLst>
          </a:prstGeom>
          <a:solidFill>
            <a:srgbClr val="1B3E52"/>
          </a:solidFill>
          <a:ln w="12700">
            <a:solidFill>
              <a:srgbClr val="2E546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691640" y="5349240"/>
            <a:ext cx="8869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FC6D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자료는 교육용입니다. 실제 사용 여부, 약제 선택, 용량은 개인의 상태에 따라 다르므로 반드시 진료 상담이 필요합니다.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005840"/>
            <a:ext cx="4389120" cy="4389120"/>
          </a:xfrm>
          <a:prstGeom prst="ellipse">
            <a:avLst/>
          </a:prstGeom>
          <a:solidFill>
            <a:srgbClr val="1C6E8C">
              <a:alpha val="22000"/>
            </a:srgbClr>
          </a:solidFill>
          <a:ln w="15875">
            <a:solidFill>
              <a:srgbClr val="2E6E8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07040" y="2926080"/>
            <a:ext cx="603504" cy="603504"/>
          </a:xfrm>
          <a:prstGeom prst="ellipse">
            <a:avLst/>
          </a:prstGeom>
          <a:solidFill>
            <a:srgbClr val="D9601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4630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E9A87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 · APPENDIX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920240"/>
            <a:ext cx="8046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GLP-1의 분비조절과</a:t>
            </a:r>
            <a:endParaRPr lang="en-US" sz="3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수용체 신호전달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822192"/>
            <a:ext cx="7589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450" dirty="0">
                <a:solidFill>
                  <a:srgbClr val="AFC6D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대상: 의료진 · 대학원생.  앞의 1~11장은 일반인 설명용이며,</a:t>
            </a:r>
            <a:endParaRPr lang="en-US" sz="14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450" dirty="0">
                <a:solidFill>
                  <a:srgbClr val="AFC6D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장부터는 생리학 용어를 그대로 사용합니다.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02920" y="4983480"/>
            <a:ext cx="1860804" cy="566928"/>
          </a:xfrm>
          <a:prstGeom prst="roundRect">
            <a:avLst>
              <a:gd name="adj" fmla="val 16129"/>
            </a:avLst>
          </a:prstGeom>
          <a:solidFill>
            <a:srgbClr val="1B3E52"/>
          </a:solidFill>
          <a:ln w="12700">
            <a:solidFill>
              <a:srgbClr val="2E546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4983480"/>
            <a:ext cx="18608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CDCE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프로글루카곤 가공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564892" y="4983480"/>
            <a:ext cx="1860804" cy="566928"/>
          </a:xfrm>
          <a:prstGeom prst="roundRect">
            <a:avLst>
              <a:gd name="adj" fmla="val 16129"/>
            </a:avLst>
          </a:prstGeom>
          <a:solidFill>
            <a:srgbClr val="1B3E52"/>
          </a:solidFill>
          <a:ln w="12700">
            <a:solidFill>
              <a:srgbClr val="2E54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564892" y="4983480"/>
            <a:ext cx="18608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CDCE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L세포 영양소 감지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26864" y="4983480"/>
            <a:ext cx="1860804" cy="566928"/>
          </a:xfrm>
          <a:prstGeom prst="roundRect">
            <a:avLst>
              <a:gd name="adj" fmla="val 16129"/>
            </a:avLst>
          </a:prstGeom>
          <a:solidFill>
            <a:srgbClr val="1B3E52"/>
          </a:solidFill>
          <a:ln w="12700">
            <a:solidFill>
              <a:srgbClr val="2E54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26864" y="4983480"/>
            <a:ext cx="18608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CDCE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이상성 분비와 조절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688836" y="4983480"/>
            <a:ext cx="1860804" cy="566928"/>
          </a:xfrm>
          <a:prstGeom prst="roundRect">
            <a:avLst>
              <a:gd name="adj" fmla="val 16129"/>
            </a:avLst>
          </a:prstGeom>
          <a:solidFill>
            <a:srgbClr val="1B3E52"/>
          </a:solidFill>
          <a:ln w="12700">
            <a:solidFill>
              <a:srgbClr val="2E54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88836" y="4983480"/>
            <a:ext cx="18608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CDCE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수용체 신호전달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F2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 유전자, 조직마다 다른 산물</a:t>
            </a:r>
            <a:endParaRPr lang="en-US" sz="3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133856"/>
            <a:ext cx="11185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프로글루카곤은 어떤 전환효소가 작용하느냐에 따라 전혀 다른 호르몬으로 잘립니다.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2118208" y="1572768"/>
            <a:ext cx="7955280" cy="749808"/>
          </a:xfrm>
          <a:prstGeom prst="roundRect">
            <a:avLst>
              <a:gd name="adj" fmla="val 50000"/>
            </a:avLst>
          </a:prstGeom>
          <a:solidFill>
            <a:srgbClr val="1C6E8C"/>
          </a:solidFill>
          <a:ln/>
          <a:effectLst>
            <a:outerShdw sx="100000" sy="100000" kx="0" ky="0" algn="bl" rotWithShape="0" blurRad="127000" dist="25400" dir="5400000">
              <a:srgbClr val="0F2B3D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337664" y="1691640"/>
            <a:ext cx="512064" cy="512064"/>
          </a:xfrm>
          <a:prstGeom prst="ellipse">
            <a:avLst/>
          </a:prstGeom>
          <a:solidFill>
            <a:srgbClr val="14536B"/>
          </a:solidFill>
          <a:ln w="12700">
            <a:solidFill>
              <a:srgbClr val="1453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52878" y="1806854"/>
            <a:ext cx="281635" cy="2816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959456" y="1572768"/>
            <a:ext cx="6858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프로글루카곤 유전자 (GCG)  →  프로글루카곤 (160 아미노산)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095848" y="2322576"/>
            <a:ext cx="0" cy="219456"/>
          </a:xfrm>
          <a:prstGeom prst="line">
            <a:avLst/>
          </a:prstGeom>
          <a:noFill/>
          <a:ln w="22225">
            <a:solidFill>
              <a:srgbClr val="8BA3A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207944" y="2542032"/>
            <a:ext cx="5775808" cy="0"/>
          </a:xfrm>
          <a:prstGeom prst="line">
            <a:avLst/>
          </a:prstGeom>
          <a:noFill/>
          <a:ln w="22225">
            <a:solidFill>
              <a:srgbClr val="8BA3A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207944" y="2542032"/>
            <a:ext cx="0" cy="182880"/>
          </a:xfrm>
          <a:prstGeom prst="line">
            <a:avLst/>
          </a:prstGeom>
          <a:noFill/>
          <a:ln w="22225">
            <a:solidFill>
              <a:srgbClr val="8BA3AF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8983751" y="2542032"/>
            <a:ext cx="0" cy="182880"/>
          </a:xfrm>
          <a:prstGeom prst="line">
            <a:avLst/>
          </a:prstGeom>
          <a:noFill/>
          <a:ln w="22225">
            <a:solidFill>
              <a:srgbClr val="8BA3AF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502920" y="2761488"/>
            <a:ext cx="5410048" cy="2084832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3D">
                <a:alpha val="10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813816" y="2999232"/>
            <a:ext cx="4788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453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췌장 α세포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813816" y="3456432"/>
            <a:ext cx="1691640" cy="310896"/>
          </a:xfrm>
          <a:prstGeom prst="roundRect">
            <a:avLst>
              <a:gd name="adj" fmla="val 20588"/>
            </a:avLst>
          </a:prstGeom>
          <a:solidFill>
            <a:srgbClr val="DCEAF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13816" y="3456432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53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전환효소 PC2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813816" y="3895344"/>
            <a:ext cx="47882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B3E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글루카곤 · GRPP · IP-1</a:t>
            </a:r>
            <a:endParaRPr lang="en-US" sz="13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B3E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 프로글루카곤 절편(MPGF)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278728" y="2761488"/>
            <a:ext cx="5410048" cy="2084832"/>
          </a:xfrm>
          <a:prstGeom prst="roundRect">
            <a:avLst>
              <a:gd name="adj" fmla="val 3947"/>
            </a:avLst>
          </a:prstGeom>
          <a:solidFill>
            <a:srgbClr val="FBE6D9"/>
          </a:solidFill>
          <a:ln w="12700">
            <a:solidFill>
              <a:srgbClr val="F0CDB6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3D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589624" y="2999232"/>
            <a:ext cx="4788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960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 L세포 · 후뇌(NTS)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6589624" y="3456432"/>
            <a:ext cx="1691640" cy="310896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9624" y="3456432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60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전환효소 PC1/3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6589624" y="3895344"/>
            <a:ext cx="47882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B3E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GLP-1 · GLP-2</a:t>
            </a:r>
            <a:endParaRPr lang="en-US" sz="13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B3E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글리센틴 · 옥신토모듈린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02920" y="5084064"/>
            <a:ext cx="11185855" cy="804672"/>
          </a:xfrm>
          <a:prstGeom prst="roundRect">
            <a:avLst>
              <a:gd name="adj" fmla="val 10227"/>
            </a:avLst>
          </a:prstGeom>
          <a:solidFill>
            <a:srgbClr val="DCEAF1"/>
          </a:solidFill>
          <a:ln w="12700">
            <a:solidFill>
              <a:srgbClr val="C3DBE6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3D">
                <a:alpha val="10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813816" y="5084064"/>
            <a:ext cx="10564063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B3E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사람에서 활성형 GLP-1은 GLP-1(7-37)과 GLP-1(7-36)amide 두 가지이며, 순환 중에는 (7-36)amide가 대부분을 차지합니다.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502920" y="6053328"/>
            <a:ext cx="11185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8B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Holst JJ. Physiol Rev 2007;87:1409 · Müller TD 외. Mol Metab 2019;30:72.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F2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L세포는 장 내강의 영양소를 직접 감지합니다</a:t>
            </a:r>
            <a:endParaRPr lang="en-US" sz="3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133856"/>
            <a:ext cx="11185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L세포는 내강 쪽으로 미세융모를 내민 개방형(open-type) 장내분비세포입니다.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3429000" cy="379476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3D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801368"/>
            <a:ext cx="3063240" cy="475488"/>
          </a:xfrm>
          <a:prstGeom prst="roundRect">
            <a:avLst>
              <a:gd name="adj" fmla="val 15385"/>
            </a:avLst>
          </a:prstGeom>
          <a:solidFill>
            <a:srgbClr val="FBF1D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801368"/>
            <a:ext cx="3063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C6B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 내강 (lumen) — 음식물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216152" y="2331720"/>
            <a:ext cx="0" cy="201168"/>
          </a:xfrm>
          <a:prstGeom prst="line">
            <a:avLst/>
          </a:prstGeom>
          <a:noFill/>
          <a:ln w="25400">
            <a:solidFill>
              <a:srgbClr val="1C6E8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45336" y="2331720"/>
            <a:ext cx="0" cy="201168"/>
          </a:xfrm>
          <a:prstGeom prst="line">
            <a:avLst/>
          </a:prstGeom>
          <a:noFill/>
          <a:ln w="25400">
            <a:solidFill>
              <a:srgbClr val="1C6E8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74520" y="2331720"/>
            <a:ext cx="0" cy="201168"/>
          </a:xfrm>
          <a:prstGeom prst="line">
            <a:avLst/>
          </a:prstGeom>
          <a:noFill/>
          <a:ln w="25400">
            <a:solidFill>
              <a:srgbClr val="1C6E8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03704" y="2331720"/>
            <a:ext cx="0" cy="201168"/>
          </a:xfrm>
          <a:prstGeom prst="line">
            <a:avLst/>
          </a:prstGeom>
          <a:noFill/>
          <a:ln w="25400">
            <a:solidFill>
              <a:srgbClr val="1C6E8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32888" y="2331720"/>
            <a:ext cx="0" cy="201168"/>
          </a:xfrm>
          <a:prstGeom prst="line">
            <a:avLst/>
          </a:prstGeom>
          <a:noFill/>
          <a:ln w="25400">
            <a:solidFill>
              <a:srgbClr val="1C6E8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62072" y="2331720"/>
            <a:ext cx="0" cy="201168"/>
          </a:xfrm>
          <a:prstGeom prst="line">
            <a:avLst/>
          </a:prstGeom>
          <a:noFill/>
          <a:ln w="25400">
            <a:solidFill>
              <a:srgbClr val="1C6E8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191256" y="2331720"/>
            <a:ext cx="0" cy="201168"/>
          </a:xfrm>
          <a:prstGeom prst="line">
            <a:avLst/>
          </a:prstGeom>
          <a:noFill/>
          <a:ln w="25400">
            <a:solidFill>
              <a:srgbClr val="1C6E8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05840" y="2532888"/>
            <a:ext cx="2423160" cy="1874520"/>
          </a:xfrm>
          <a:prstGeom prst="roundRect">
            <a:avLst>
              <a:gd name="adj" fmla="val 4878"/>
            </a:avLst>
          </a:prstGeom>
          <a:solidFill>
            <a:srgbClr val="DCEAF1"/>
          </a:solidFill>
          <a:ln w="15875">
            <a:solidFill>
              <a:srgbClr val="1C6E8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51560" y="265176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53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L세포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3026664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453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미세융모로 내강의</a:t>
            </a:r>
            <a:endParaRPr lang="en-US" sz="10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453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영양소를 직접 감지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453896" y="3666744"/>
            <a:ext cx="173736" cy="173736"/>
          </a:xfrm>
          <a:prstGeom prst="ellipse">
            <a:avLst/>
          </a:prstGeom>
          <a:solidFill>
            <a:srgbClr val="D9601F"/>
          </a:solidFill>
          <a:ln/>
        </p:spPr>
      </p:sp>
      <p:sp>
        <p:nvSpPr>
          <p:cNvPr id="18" name="Shape 16"/>
          <p:cNvSpPr/>
          <p:nvPr/>
        </p:nvSpPr>
        <p:spPr>
          <a:xfrm>
            <a:off x="1837944" y="3666744"/>
            <a:ext cx="173736" cy="173736"/>
          </a:xfrm>
          <a:prstGeom prst="ellipse">
            <a:avLst/>
          </a:prstGeom>
          <a:solidFill>
            <a:srgbClr val="D9601F"/>
          </a:solidFill>
          <a:ln/>
        </p:spPr>
      </p:sp>
      <p:sp>
        <p:nvSpPr>
          <p:cNvPr id="19" name="Shape 17"/>
          <p:cNvSpPr/>
          <p:nvPr/>
        </p:nvSpPr>
        <p:spPr>
          <a:xfrm>
            <a:off x="2221992" y="3666744"/>
            <a:ext cx="173736" cy="173736"/>
          </a:xfrm>
          <a:prstGeom prst="ellipse">
            <a:avLst/>
          </a:prstGeom>
          <a:solidFill>
            <a:srgbClr val="D9601F"/>
          </a:solidFill>
          <a:ln/>
        </p:spPr>
      </p:sp>
      <p:sp>
        <p:nvSpPr>
          <p:cNvPr id="20" name="Shape 18"/>
          <p:cNvSpPr/>
          <p:nvPr/>
        </p:nvSpPr>
        <p:spPr>
          <a:xfrm>
            <a:off x="2606040" y="3666744"/>
            <a:ext cx="173736" cy="173736"/>
          </a:xfrm>
          <a:prstGeom prst="ellipse">
            <a:avLst/>
          </a:prstGeom>
          <a:solidFill>
            <a:srgbClr val="D9601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51560" y="39319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분비과립 (GLP-1)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217420" y="4407408"/>
            <a:ext cx="0" cy="329184"/>
          </a:xfrm>
          <a:prstGeom prst="line">
            <a:avLst/>
          </a:prstGeom>
          <a:noFill/>
          <a:ln w="28575">
            <a:solidFill>
              <a:srgbClr val="D9601F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85800" y="4754880"/>
            <a:ext cx="3063240" cy="475488"/>
          </a:xfrm>
          <a:prstGeom prst="roundRect">
            <a:avLst>
              <a:gd name="adj" fmla="val 15385"/>
            </a:avLst>
          </a:prstGeom>
          <a:solidFill>
            <a:srgbClr val="FBE6D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85800" y="4754880"/>
            <a:ext cx="3063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60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기저측면 → 혈액 · 문맥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242816" y="1600200"/>
            <a:ext cx="3604108" cy="1764792"/>
          </a:xfrm>
          <a:prstGeom prst="roundRect">
            <a:avLst>
              <a:gd name="adj" fmla="val 4663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3D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398264" y="1755648"/>
            <a:ext cx="530352" cy="530352"/>
          </a:xfrm>
          <a:prstGeom prst="ellipse">
            <a:avLst/>
          </a:prstGeom>
          <a:solidFill>
            <a:srgbClr val="DCEAF1"/>
          </a:solidFill>
          <a:ln w="12700">
            <a:solidFill>
              <a:srgbClr val="DCEAF1"/>
            </a:solidFill>
            <a:prstDash val="solid"/>
          </a:ln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30852" y="1888236"/>
            <a:ext cx="265176" cy="265176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5010912" y="1801368"/>
            <a:ext cx="26439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453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탄수화물 (포도당)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4480560" y="2331720"/>
            <a:ext cx="31286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SGLT1을 통한 전기생성적 Na⁺–포도당 공동수송 → 막 탈분극, KATP 통로 폐쇄 → 전압의존 Ca²⁺ 유입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8084668" y="1600200"/>
            <a:ext cx="3604108" cy="1764792"/>
          </a:xfrm>
          <a:prstGeom prst="roundRect">
            <a:avLst>
              <a:gd name="adj" fmla="val 4663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3D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8240116" y="1755648"/>
            <a:ext cx="530352" cy="530352"/>
          </a:xfrm>
          <a:prstGeom prst="ellipse">
            <a:avLst/>
          </a:prstGeom>
          <a:solidFill>
            <a:srgbClr val="DCEAF1"/>
          </a:solidFill>
          <a:ln w="12700">
            <a:solidFill>
              <a:srgbClr val="DCEAF1"/>
            </a:solidFill>
            <a:prstDash val="solid"/>
          </a:ln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2704" y="1888236"/>
            <a:ext cx="265176" cy="265176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8852764" y="1801368"/>
            <a:ext cx="26439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453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지방 (장쇄지방산 · 2-MAG)</a:t>
            </a:r>
            <a:endParaRPr lang="en-US" sz="1350" dirty="0"/>
          </a:p>
        </p:txBody>
      </p:sp>
      <p:sp>
        <p:nvSpPr>
          <p:cNvPr id="34" name="Text 30"/>
          <p:cNvSpPr txBox="1"/>
          <p:nvPr/>
        </p:nvSpPr>
        <p:spPr>
          <a:xfrm>
            <a:off x="8322412" y="2331720"/>
            <a:ext cx="31286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FFAR1(GPR40) · FFAR4(GPR120) · GPR119 → Gq/Gs 경로로 세포내 Ca²⁺ 및 cAMP 상승</a:t>
            </a:r>
            <a:endParaRPr lang="en-US" sz="1100" dirty="0"/>
          </a:p>
        </p:txBody>
      </p:sp>
      <p:sp>
        <p:nvSpPr>
          <p:cNvPr id="35" name="Shape 31"/>
          <p:cNvSpPr/>
          <p:nvPr/>
        </p:nvSpPr>
        <p:spPr>
          <a:xfrm>
            <a:off x="4242816" y="3602736"/>
            <a:ext cx="3604108" cy="1764792"/>
          </a:xfrm>
          <a:prstGeom prst="roundRect">
            <a:avLst>
              <a:gd name="adj" fmla="val 4663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3D">
                <a:alpha val="10000"/>
              </a:srgbClr>
            </a:outerShdw>
          </a:effectLst>
        </p:spPr>
      </p:sp>
      <p:sp>
        <p:nvSpPr>
          <p:cNvPr id="36" name="Shape 32"/>
          <p:cNvSpPr/>
          <p:nvPr/>
        </p:nvSpPr>
        <p:spPr>
          <a:xfrm>
            <a:off x="4398264" y="3758184"/>
            <a:ext cx="530352" cy="530352"/>
          </a:xfrm>
          <a:prstGeom prst="ellipse">
            <a:avLst/>
          </a:prstGeom>
          <a:solidFill>
            <a:srgbClr val="DCEAF1"/>
          </a:solidFill>
          <a:ln w="12700">
            <a:solidFill>
              <a:srgbClr val="DCEAF1"/>
            </a:solidFill>
            <a:prstDash val="solid"/>
          </a:ln>
        </p:spPr>
      </p:sp>
      <p:pic>
        <p:nvPicPr>
          <p:cNvPr id="3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0852" y="3890772"/>
            <a:ext cx="265176" cy="265176"/>
          </a:xfrm>
          <a:prstGeom prst="rect">
            <a:avLst/>
          </a:prstGeom>
        </p:spPr>
      </p:pic>
      <p:sp>
        <p:nvSpPr>
          <p:cNvPr id="38" name="Text 33"/>
          <p:cNvSpPr txBox="1"/>
          <p:nvPr/>
        </p:nvSpPr>
        <p:spPr>
          <a:xfrm>
            <a:off x="5010912" y="3803904"/>
            <a:ext cx="26439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453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단백질 (펩톤 · 아미노산)</a:t>
            </a:r>
            <a:endParaRPr lang="en-US" sz="1350" dirty="0"/>
          </a:p>
        </p:txBody>
      </p:sp>
      <p:sp>
        <p:nvSpPr>
          <p:cNvPr id="39" name="Text 34"/>
          <p:cNvSpPr txBox="1"/>
          <p:nvPr/>
        </p:nvSpPr>
        <p:spPr>
          <a:xfrm>
            <a:off x="4480560" y="4334256"/>
            <a:ext cx="31286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칼슘감지수용체(CaSR), 펩타이드 수송체 PepT1을 통해 세포내 Ca²⁺ 상승</a:t>
            </a:r>
            <a:endParaRPr lang="en-US" sz="1100" dirty="0"/>
          </a:p>
        </p:txBody>
      </p:sp>
      <p:sp>
        <p:nvSpPr>
          <p:cNvPr id="40" name="Shape 35"/>
          <p:cNvSpPr/>
          <p:nvPr/>
        </p:nvSpPr>
        <p:spPr>
          <a:xfrm>
            <a:off x="8084668" y="3602736"/>
            <a:ext cx="3604108" cy="1764792"/>
          </a:xfrm>
          <a:prstGeom prst="roundRect">
            <a:avLst>
              <a:gd name="adj" fmla="val 4663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3D">
                <a:alpha val="10000"/>
              </a:srgbClr>
            </a:outerShdw>
          </a:effectLst>
        </p:spPr>
      </p:sp>
      <p:sp>
        <p:nvSpPr>
          <p:cNvPr id="41" name="Shape 36"/>
          <p:cNvSpPr/>
          <p:nvPr/>
        </p:nvSpPr>
        <p:spPr>
          <a:xfrm>
            <a:off x="8240116" y="3758184"/>
            <a:ext cx="530352" cy="530352"/>
          </a:xfrm>
          <a:prstGeom prst="ellipse">
            <a:avLst/>
          </a:prstGeom>
          <a:solidFill>
            <a:srgbClr val="DCEAF1"/>
          </a:solidFill>
          <a:ln w="12700">
            <a:solidFill>
              <a:srgbClr val="DCEAF1"/>
            </a:solidFill>
            <a:prstDash val="solid"/>
          </a:ln>
        </p:spPr>
      </p:sp>
      <p:pic>
        <p:nvPicPr>
          <p:cNvPr id="4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2704" y="3890772"/>
            <a:ext cx="265176" cy="265176"/>
          </a:xfrm>
          <a:prstGeom prst="rect">
            <a:avLst/>
          </a:prstGeom>
        </p:spPr>
      </p:pic>
      <p:sp>
        <p:nvSpPr>
          <p:cNvPr id="43" name="Text 37"/>
          <p:cNvSpPr txBox="1"/>
          <p:nvPr/>
        </p:nvSpPr>
        <p:spPr>
          <a:xfrm>
            <a:off x="8852764" y="3803904"/>
            <a:ext cx="26439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453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담즙산 · 단쇄지방산(SCFA)</a:t>
            </a:r>
            <a:endParaRPr lang="en-US" sz="1350" dirty="0"/>
          </a:p>
        </p:txBody>
      </p:sp>
      <p:sp>
        <p:nvSpPr>
          <p:cNvPr id="44" name="Text 38"/>
          <p:cNvSpPr txBox="1"/>
          <p:nvPr/>
        </p:nvSpPr>
        <p:spPr>
          <a:xfrm>
            <a:off x="8322412" y="4334256"/>
            <a:ext cx="31286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담즙산 → TGR5(GPBAR1). 장내미생물이 식이섬유를 발효해 만든 SCFA → FFAR2(GPR43) · FFAR3(GPR41)</a:t>
            </a:r>
            <a:endParaRPr lang="en-US" sz="1100" dirty="0"/>
          </a:p>
        </p:txBody>
      </p:sp>
      <p:sp>
        <p:nvSpPr>
          <p:cNvPr id="45" name="Shape 39"/>
          <p:cNvSpPr/>
          <p:nvPr/>
        </p:nvSpPr>
        <p:spPr>
          <a:xfrm>
            <a:off x="502920" y="5522976"/>
            <a:ext cx="11185855" cy="548640"/>
          </a:xfrm>
          <a:prstGeom prst="roundRect">
            <a:avLst>
              <a:gd name="adj" fmla="val 15000"/>
            </a:avLst>
          </a:prstGeom>
          <a:solidFill>
            <a:srgbClr val="DCEAF1"/>
          </a:solidFill>
          <a:ln w="12700">
            <a:solidFill>
              <a:srgbClr val="C3DBE6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813816" y="5522976"/>
            <a:ext cx="105640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453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종착점  </a:t>
            </a:r>
            <a:pPr algn="l" indent="0" marL="0">
              <a:buNone/>
            </a:pPr>
            <a:r>
              <a:rPr lang="en-US" sz="1250" dirty="0">
                <a:solidFill>
                  <a:srgbClr val="1B3E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세포내 Ca²⁺ ↑ · cAMP ↑  →  분비과립 개구분비  →  GLP-1 방출</a:t>
            </a:r>
            <a:endParaRPr lang="en-US" sz="1250" dirty="0"/>
          </a:p>
        </p:txBody>
      </p:sp>
      <p:sp>
        <p:nvSpPr>
          <p:cNvPr id="47" name="Text 41"/>
          <p:cNvSpPr txBox="1"/>
          <p:nvPr/>
        </p:nvSpPr>
        <p:spPr>
          <a:xfrm>
            <a:off x="502920" y="6163056"/>
            <a:ext cx="11185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8B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Gribble FM, Reimann F. Nat Rev Endocrinol 2019;15:226 · Müller TD 외. Mol Metab 2019;30:72.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F2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식후 GLP-1은 두 단계로 올라갑니다</a:t>
            </a:r>
            <a:endParaRPr lang="en-US" sz="3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133856"/>
            <a:ext cx="11185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영양소가 원위 L세포에 닿기 전부터 혈중 농도가 오르는 것이 오래된 관찰입니다.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1591056"/>
            <a:ext cx="5410048" cy="1847088"/>
          </a:xfrm>
          <a:prstGeom prst="roundRect">
            <a:avLst>
              <a:gd name="adj" fmla="val 4455"/>
            </a:avLst>
          </a:prstGeom>
          <a:solidFill>
            <a:srgbClr val="FBE6D9"/>
          </a:solidFill>
          <a:ln w="12700">
            <a:solidFill>
              <a:srgbClr val="F0CDB6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3D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13816" y="1792224"/>
            <a:ext cx="321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D960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1단계 · 조기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3809848" y="1810512"/>
            <a:ext cx="1792224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809848" y="1810512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60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식후 약 10~15분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13816" y="2286000"/>
            <a:ext cx="47882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영양소가 원위 장에 도달하기 전에 이미 상승합니다. 근위 장 자극이 미주신경 및 내분비 신호를 거쳐 원위 L세포를 활성화한다는 “근위–원위 축”으로 설명되어 왔습니다.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78728" y="1591056"/>
            <a:ext cx="5410048" cy="1847088"/>
          </a:xfrm>
          <a:prstGeom prst="roundRect">
            <a:avLst>
              <a:gd name="adj" fmla="val 4455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3D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589624" y="1792224"/>
            <a:ext cx="321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453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2단계 · 후기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9585655" y="1810512"/>
            <a:ext cx="1792224" cy="347472"/>
          </a:xfrm>
          <a:prstGeom prst="roundRect">
            <a:avLst>
              <a:gd name="adj" fmla="val 21053"/>
            </a:avLst>
          </a:prstGeom>
          <a:solidFill>
            <a:srgbClr val="DCEAF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585655" y="1810512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53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식후 약 30~60분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589624" y="2286000"/>
            <a:ext cx="47882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영양소가 원위 회장과 결장의 L세포에 직접 닿아 앞 장에서 본 수용체·수송체를 통해 분비를 일으킵니다.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584448"/>
            <a:ext cx="11185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2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분비를 조절하는 다른 신호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02920" y="3950208"/>
            <a:ext cx="3545738" cy="131673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3D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67512" y="4096512"/>
            <a:ext cx="512064" cy="512064"/>
          </a:xfrm>
          <a:prstGeom prst="ellipse">
            <a:avLst/>
          </a:prstGeom>
          <a:solidFill>
            <a:srgbClr val="DCEAF1"/>
          </a:solidFill>
          <a:ln w="12700">
            <a:solidFill>
              <a:srgbClr val="DCEAF1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4224528"/>
            <a:ext cx="256032" cy="256032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271016" y="4151376"/>
            <a:ext cx="258561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453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미주신경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40664" y="4645152"/>
            <a:ext cx="30702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구심성·원심성 섬유가 모두 관여하며, 조기 분비 가설의 핵심 경로입니다.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4322978" y="3950208"/>
            <a:ext cx="3545738" cy="131673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3D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487570" y="4096512"/>
            <a:ext cx="512064" cy="512064"/>
          </a:xfrm>
          <a:prstGeom prst="ellipse">
            <a:avLst/>
          </a:prstGeom>
          <a:solidFill>
            <a:srgbClr val="DCEAF1"/>
          </a:solidFill>
          <a:ln w="12700">
            <a:solidFill>
              <a:srgbClr val="DCEAF1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5586" y="4224528"/>
            <a:ext cx="256032" cy="256032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091074" y="4151376"/>
            <a:ext cx="258561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453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소마토스타틴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4560722" y="4645152"/>
            <a:ext cx="30702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δ세포에서 분비되어 SSTR5를 통해 L세포 분비를 억제하는 주변분비 음성 되먹임입니다.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8143037" y="3950208"/>
            <a:ext cx="3545738" cy="131673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3D">
                <a:alpha val="10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307629" y="4096512"/>
            <a:ext cx="512064" cy="512064"/>
          </a:xfrm>
          <a:prstGeom prst="ellipse">
            <a:avLst/>
          </a:prstGeom>
          <a:solidFill>
            <a:srgbClr val="DCEAF1"/>
          </a:solidFill>
          <a:ln w="12700">
            <a:solidFill>
              <a:srgbClr val="DCEAF1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645" y="4224528"/>
            <a:ext cx="256032" cy="256032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911133" y="4151376"/>
            <a:ext cx="258561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453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인슐린 등 대사 신호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380781" y="4645152"/>
            <a:ext cx="30702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인슐린을 포함한 전신 대사 신호도 L세포 분비에 되먹임으로 작용합니다.</a:t>
            </a:r>
            <a:endParaRPr lang="en-US" sz="1050" dirty="0"/>
          </a:p>
        </p:txBody>
      </p:sp>
      <p:sp>
        <p:nvSpPr>
          <p:cNvPr id="30" name="Shape 25"/>
          <p:cNvSpPr/>
          <p:nvPr/>
        </p:nvSpPr>
        <p:spPr>
          <a:xfrm>
            <a:off x="502920" y="5413248"/>
            <a:ext cx="11185855" cy="749808"/>
          </a:xfrm>
          <a:prstGeom prst="roundRect">
            <a:avLst>
              <a:gd name="adj" fmla="val 10976"/>
            </a:avLst>
          </a:prstGeom>
          <a:solidFill>
            <a:srgbClr val="FBF1DC"/>
          </a:solidFill>
          <a:ln w="12700">
            <a:solidFill>
              <a:srgbClr val="EBD9B4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740664" y="5550408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56" y="5688300"/>
            <a:ext cx="199705" cy="199705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1362456" y="5413248"/>
            <a:ext cx="10088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9C6B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논쟁 중  </a:t>
            </a:r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3E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 분비의 신경·내분비 기전은 설치류 자료가 주를 이루며, 사람에서 각 경로가 얼마나 기여하는지는 아직 정리되지 않았습니다. GIP의 역할도 종에 따라 다르게 보고됩니다.</a:t>
            </a:r>
            <a:endParaRPr lang="en-US" sz="1150" dirty="0"/>
          </a:p>
        </p:txBody>
      </p:sp>
      <p:sp>
        <p:nvSpPr>
          <p:cNvPr id="34" name="Text 28"/>
          <p:cNvSpPr txBox="1"/>
          <p:nvPr/>
        </p:nvSpPr>
        <p:spPr>
          <a:xfrm>
            <a:off x="502920" y="6254496"/>
            <a:ext cx="11185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8B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Holst JJ. Physiol Rev 2007;87:1409 · Nauck MA, Meier JJ. Diabetes Obes Metab 2018;20(Suppl 1):5.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F2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분비된 GLP-1은 대부분 전신 순환에 닿기 전에 잘립니다</a:t>
            </a:r>
            <a:endParaRPr lang="en-US" sz="3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133856"/>
            <a:ext cx="11185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사실이 “내인성 GLP-1은 어떻게 작동하는가”라는 질문의 출발점입니다.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1682496"/>
            <a:ext cx="2494712" cy="2340864"/>
          </a:xfrm>
          <a:prstGeom prst="roundRect">
            <a:avLst>
              <a:gd name="adj" fmla="val 3516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3D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67512" y="1847088"/>
            <a:ext cx="347472" cy="347472"/>
          </a:xfrm>
          <a:prstGeom prst="ellipse">
            <a:avLst/>
          </a:prstGeom>
          <a:solidFill>
            <a:srgbClr val="1C6E8C"/>
          </a:solidFill>
          <a:ln w="12700">
            <a:solidFill>
              <a:srgbClr val="1C6E8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421092" y="2139696"/>
            <a:ext cx="658368" cy="658368"/>
          </a:xfrm>
          <a:prstGeom prst="ellipse">
            <a:avLst/>
          </a:prstGeom>
          <a:solidFill>
            <a:srgbClr val="DCEAF1"/>
          </a:solidFill>
          <a:ln w="12700">
            <a:solidFill>
              <a:srgbClr val="DCEAF1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5684" y="230428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30936" y="2889504"/>
            <a:ext cx="223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53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L세포에서 분비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67512" y="3236976"/>
            <a:ext cx="21655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활성형 GLP-1(7-36)amide가 기저측면으로 방출됩니다.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052496" y="2340864"/>
            <a:ext cx="274320" cy="256032"/>
          </a:xfrm>
          <a:prstGeom prst="rightArrow">
            <a:avLst/>
          </a:prstGeom>
          <a:solidFill>
            <a:srgbClr val="8BA3AF"/>
          </a:solidFill>
          <a:ln/>
        </p:spPr>
      </p:sp>
      <p:sp>
        <p:nvSpPr>
          <p:cNvPr id="12" name="Shape 9"/>
          <p:cNvSpPr/>
          <p:nvPr/>
        </p:nvSpPr>
        <p:spPr>
          <a:xfrm>
            <a:off x="3399968" y="1682496"/>
            <a:ext cx="2494712" cy="2340864"/>
          </a:xfrm>
          <a:prstGeom prst="roundRect">
            <a:avLst>
              <a:gd name="adj" fmla="val 3516"/>
            </a:avLst>
          </a:prstGeom>
          <a:solidFill>
            <a:srgbClr val="FBE6D9"/>
          </a:solidFill>
          <a:ln w="12700">
            <a:solidFill>
              <a:srgbClr val="F0CDB6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3D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564560" y="1847088"/>
            <a:ext cx="347472" cy="347472"/>
          </a:xfrm>
          <a:prstGeom prst="ellipse">
            <a:avLst/>
          </a:prstGeom>
          <a:solidFill>
            <a:srgbClr val="D9601F"/>
          </a:solidFill>
          <a:ln w="12700">
            <a:solidFill>
              <a:srgbClr val="D9601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564560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318140" y="213969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2732" y="2304288"/>
            <a:ext cx="329184" cy="329184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3527984" y="2889504"/>
            <a:ext cx="223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60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DPP-4가 절단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3564560" y="3236976"/>
            <a:ext cx="21655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DPP-4가 N말단 2번 알라닌 뒤를 잘라 불활성형 GLP-1(9-36)amide로 바꿉니다.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5949544" y="2340864"/>
            <a:ext cx="274320" cy="256032"/>
          </a:xfrm>
          <a:prstGeom prst="rightArrow">
            <a:avLst/>
          </a:prstGeom>
          <a:solidFill>
            <a:srgbClr val="8BA3AF"/>
          </a:solidFill>
          <a:ln/>
        </p:spPr>
      </p:sp>
      <p:sp>
        <p:nvSpPr>
          <p:cNvPr id="20" name="Shape 16"/>
          <p:cNvSpPr/>
          <p:nvPr/>
        </p:nvSpPr>
        <p:spPr>
          <a:xfrm>
            <a:off x="6297016" y="1682496"/>
            <a:ext cx="2494712" cy="2340864"/>
          </a:xfrm>
          <a:prstGeom prst="roundRect">
            <a:avLst>
              <a:gd name="adj" fmla="val 3516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3D">
                <a:alpha val="10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461608" y="1847088"/>
            <a:ext cx="347472" cy="347472"/>
          </a:xfrm>
          <a:prstGeom prst="ellipse">
            <a:avLst/>
          </a:prstGeom>
          <a:solidFill>
            <a:srgbClr val="1C6E8C"/>
          </a:solidFill>
          <a:ln w="12700">
            <a:solidFill>
              <a:srgbClr val="1C6E8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461608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7215187" y="2139696"/>
            <a:ext cx="658368" cy="658368"/>
          </a:xfrm>
          <a:prstGeom prst="ellipse">
            <a:avLst/>
          </a:prstGeom>
          <a:solidFill>
            <a:srgbClr val="DCEAF1"/>
          </a:solidFill>
          <a:ln w="12700">
            <a:solidFill>
              <a:srgbClr val="DCEAF1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9780" y="2304288"/>
            <a:ext cx="329184" cy="329184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6425032" y="2889504"/>
            <a:ext cx="223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53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문맥 → 간 통과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6461608" y="3236976"/>
            <a:ext cx="21655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간을 지나며 추가로 제거되고, 신장에서도 청소됩니다.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8846591" y="2340864"/>
            <a:ext cx="274320" cy="256032"/>
          </a:xfrm>
          <a:prstGeom prst="rightArrow">
            <a:avLst/>
          </a:prstGeom>
          <a:solidFill>
            <a:srgbClr val="8BA3AF"/>
          </a:solidFill>
          <a:ln/>
        </p:spPr>
      </p:sp>
      <p:sp>
        <p:nvSpPr>
          <p:cNvPr id="28" name="Shape 23"/>
          <p:cNvSpPr/>
          <p:nvPr/>
        </p:nvSpPr>
        <p:spPr>
          <a:xfrm>
            <a:off x="9194063" y="1682496"/>
            <a:ext cx="2494712" cy="2340864"/>
          </a:xfrm>
          <a:prstGeom prst="roundRect">
            <a:avLst>
              <a:gd name="adj" fmla="val 3516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3D">
                <a:alpha val="10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9358655" y="1847088"/>
            <a:ext cx="347472" cy="347472"/>
          </a:xfrm>
          <a:prstGeom prst="ellipse">
            <a:avLst/>
          </a:prstGeom>
          <a:solidFill>
            <a:srgbClr val="1C6E8C"/>
          </a:solidFill>
          <a:ln w="12700">
            <a:solidFill>
              <a:srgbClr val="1C6E8C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9358655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10112235" y="2139696"/>
            <a:ext cx="658368" cy="658368"/>
          </a:xfrm>
          <a:prstGeom prst="ellipse">
            <a:avLst/>
          </a:prstGeom>
          <a:solidFill>
            <a:srgbClr val="DCEAF1"/>
          </a:solidFill>
          <a:ln w="12700">
            <a:solidFill>
              <a:srgbClr val="DCEAF1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76827" y="2304288"/>
            <a:ext cx="329184" cy="32918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9322079" y="2889504"/>
            <a:ext cx="223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53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전신 순환 도달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9358655" y="3236976"/>
            <a:ext cx="21655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활성형으로 전신 순환에 도달하는 양은 분비량의 약 10~15%로 추정됩니다.</a:t>
            </a:r>
            <a:endParaRPr lang="en-US" sz="1050" dirty="0"/>
          </a:p>
        </p:txBody>
      </p:sp>
      <p:sp>
        <p:nvSpPr>
          <p:cNvPr id="35" name="Shape 29"/>
          <p:cNvSpPr/>
          <p:nvPr/>
        </p:nvSpPr>
        <p:spPr>
          <a:xfrm>
            <a:off x="502920" y="4187952"/>
            <a:ext cx="54283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3D">
                <a:alpha val="10000"/>
              </a:srgbClr>
            </a:outerShdw>
          </a:effectLst>
        </p:spPr>
      </p:sp>
      <p:sp>
        <p:nvSpPr>
          <p:cNvPr id="36" name="Text 30"/>
          <p:cNvSpPr txBox="1"/>
          <p:nvPr/>
        </p:nvSpPr>
        <p:spPr>
          <a:xfrm>
            <a:off x="813816" y="4389120"/>
            <a:ext cx="4806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53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내인성 GLP-1 — 주로 “신경” 경로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813816" y="4809744"/>
            <a:ext cx="48065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전신 농도가 낮아도 효과가 나타나는 이유로, 장·문맥 주위 미주신경 구심성 섬유의 GLP-1 수용체를 국소적으로 자극한다는 설명이 제시되어 있습니다.</a:t>
            </a:r>
            <a:endParaRPr lang="en-US" sz="1150" dirty="0"/>
          </a:p>
        </p:txBody>
      </p:sp>
      <p:sp>
        <p:nvSpPr>
          <p:cNvPr id="38" name="Shape 32"/>
          <p:cNvSpPr/>
          <p:nvPr/>
        </p:nvSpPr>
        <p:spPr>
          <a:xfrm>
            <a:off x="6260440" y="4187952"/>
            <a:ext cx="5428336" cy="1389888"/>
          </a:xfrm>
          <a:prstGeom prst="roundRect">
            <a:avLst>
              <a:gd name="adj" fmla="val 5921"/>
            </a:avLst>
          </a:prstGeom>
          <a:solidFill>
            <a:srgbClr val="1C6E8C"/>
          </a:solidFill>
          <a:ln/>
          <a:effectLst>
            <a:outerShdw sx="100000" sy="100000" kx="0" ky="0" algn="bl" rotWithShape="0" blurRad="127000" dist="25400" dir="5400000">
              <a:srgbClr val="0F2B3D">
                <a:alpha val="10000"/>
              </a:srgbClr>
            </a:outerShdw>
          </a:effectLst>
        </p:spPr>
      </p:sp>
      <p:sp>
        <p:nvSpPr>
          <p:cNvPr id="39" name="Text 33"/>
          <p:cNvSpPr txBox="1"/>
          <p:nvPr/>
        </p:nvSpPr>
        <p:spPr>
          <a:xfrm>
            <a:off x="6571336" y="4389120"/>
            <a:ext cx="4806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약물 — “내분비” 경로</a:t>
            </a:r>
            <a:endParaRPr lang="en-US" sz="1500" dirty="0"/>
          </a:p>
        </p:txBody>
      </p:sp>
      <p:sp>
        <p:nvSpPr>
          <p:cNvPr id="40" name="Text 34"/>
          <p:cNvSpPr txBox="1"/>
          <p:nvPr/>
        </p:nvSpPr>
        <p:spPr>
          <a:xfrm>
            <a:off x="6571336" y="4809744"/>
            <a:ext cx="48065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6EAF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DPP-4 분해에 저항하도록 만든 작용제는 초생리적 농도로 전신 순환을 돌며 각 조직의 수용체를 직접 자극합니다. 같은 수용체지만 작동 방식은 다릅니다.</a:t>
            </a:r>
            <a:endParaRPr lang="en-US" sz="1150" dirty="0"/>
          </a:p>
        </p:txBody>
      </p:sp>
      <p:sp>
        <p:nvSpPr>
          <p:cNvPr id="41" name="Text 35"/>
          <p:cNvSpPr txBox="1"/>
          <p:nvPr/>
        </p:nvSpPr>
        <p:spPr>
          <a:xfrm>
            <a:off x="502920" y="5724144"/>
            <a:ext cx="11185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8B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DPP-4는 장 고유층 모세혈관 내피에 특히 풍부합니다. GLP-1(9-36)amide가 완전히 불활성인지는 아직 정리되지 않았습니다. 출처: Holst JJ. Physiol Rev 2007;87:1409.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F2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GLP-1 수용체에서 인슐린 분비까지</a:t>
            </a:r>
            <a:endParaRPr lang="en-US" sz="3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133856"/>
            <a:ext cx="11185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GLP-1R는 class B1 GPCR이며, β세포에서 cAMP를 축으로 두 갈래로 신호를 내려보냅니다.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1609344"/>
            <a:ext cx="6967728" cy="4133088"/>
          </a:xfrm>
          <a:prstGeom prst="roundRect">
            <a:avLst>
              <a:gd name="adj" fmla="val 1991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3D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865376"/>
            <a:ext cx="6236208" cy="475488"/>
          </a:xfrm>
          <a:prstGeom prst="roundRect">
            <a:avLst>
              <a:gd name="adj" fmla="val 15385"/>
            </a:avLst>
          </a:prstGeom>
          <a:solidFill>
            <a:srgbClr val="DCEAF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865376"/>
            <a:ext cx="62362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53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GLP-1R (class B1 GPCR, 7회 막관통)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986784" y="2340864"/>
            <a:ext cx="0" cy="182880"/>
          </a:xfrm>
          <a:prstGeom prst="line">
            <a:avLst/>
          </a:prstGeom>
          <a:noFill/>
          <a:ln w="22225">
            <a:solidFill>
              <a:srgbClr val="8BA3A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868680" y="2542032"/>
            <a:ext cx="6236208" cy="475488"/>
          </a:xfrm>
          <a:prstGeom prst="roundRect">
            <a:avLst>
              <a:gd name="adj" fmla="val 15385"/>
            </a:avLst>
          </a:prstGeom>
          <a:solidFill>
            <a:srgbClr val="DCEAF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2542032"/>
            <a:ext cx="62362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3E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Gαs → 아데닐산 고리화효소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986784" y="3017520"/>
            <a:ext cx="0" cy="182880"/>
          </a:xfrm>
          <a:prstGeom prst="line">
            <a:avLst/>
          </a:prstGeom>
          <a:noFill/>
          <a:ln w="22225">
            <a:solidFill>
              <a:srgbClr val="8BA3A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868680" y="3218688"/>
            <a:ext cx="6236208" cy="475488"/>
          </a:xfrm>
          <a:prstGeom prst="roundRect">
            <a:avLst>
              <a:gd name="adj" fmla="val 15385"/>
            </a:avLst>
          </a:prstGeom>
          <a:solidFill>
            <a:srgbClr val="FBE6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3218688"/>
            <a:ext cx="62362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60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세포내 cAMP 상승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986784" y="3456432"/>
            <a:ext cx="0" cy="201168"/>
          </a:xfrm>
          <a:prstGeom prst="line">
            <a:avLst/>
          </a:prstGeom>
          <a:noFill/>
          <a:ln w="22225">
            <a:solidFill>
              <a:srgbClr val="8BA3A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363724" y="3657600"/>
            <a:ext cx="3246120" cy="0"/>
          </a:xfrm>
          <a:prstGeom prst="line">
            <a:avLst/>
          </a:prstGeom>
          <a:noFill/>
          <a:ln w="22225">
            <a:solidFill>
              <a:srgbClr val="8BA3A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363724" y="3657600"/>
            <a:ext cx="0" cy="201168"/>
          </a:xfrm>
          <a:prstGeom prst="line">
            <a:avLst/>
          </a:prstGeom>
          <a:noFill/>
          <a:ln w="22225">
            <a:solidFill>
              <a:srgbClr val="8BA3AF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609844" y="3657600"/>
            <a:ext cx="0" cy="201168"/>
          </a:xfrm>
          <a:prstGeom prst="line">
            <a:avLst/>
          </a:prstGeom>
          <a:noFill/>
          <a:ln w="22225">
            <a:solidFill>
              <a:srgbClr val="8BA3AF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68680" y="3895344"/>
            <a:ext cx="2990088" cy="969264"/>
          </a:xfrm>
          <a:prstGeom prst="roundRect">
            <a:avLst>
              <a:gd name="adj" fmla="val 7547"/>
            </a:avLst>
          </a:prstGeom>
          <a:solidFill>
            <a:srgbClr val="DCEAF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4005072"/>
            <a:ext cx="2990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53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PKA 경로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96696" y="4315968"/>
            <a:ext cx="2734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KATP 통로 폐쇄를 촉진하고</a:t>
            </a:r>
            <a:endParaRPr lang="en-US" sz="10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이온 통로를 인산화합니다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114800" y="3895344"/>
            <a:ext cx="2990088" cy="969264"/>
          </a:xfrm>
          <a:prstGeom prst="roundRect">
            <a:avLst>
              <a:gd name="adj" fmla="val 7547"/>
            </a:avLst>
          </a:prstGeom>
          <a:solidFill>
            <a:srgbClr val="DCEAF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114800" y="4005072"/>
            <a:ext cx="2990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53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Epac2 (RAPGEF4) 경로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242816" y="4315968"/>
            <a:ext cx="2734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세포내 저장 Ca²⁺을 동원하고</a:t>
            </a:r>
            <a:endParaRPr lang="en-US" sz="10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분비과립을 형질막에 대기시킵니다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68680" y="5029200"/>
            <a:ext cx="6236208" cy="658368"/>
          </a:xfrm>
          <a:prstGeom prst="roundRect">
            <a:avLst>
              <a:gd name="adj" fmla="val 11111"/>
            </a:avLst>
          </a:prstGeom>
          <a:solidFill>
            <a:srgbClr val="FBF1DC"/>
          </a:solidFill>
          <a:ln w="12700">
            <a:solidFill>
              <a:srgbClr val="EBD9B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33272" y="5029200"/>
            <a:ext cx="59070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9C6B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포도당 의존성의 분자적 근거  </a:t>
            </a:r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3E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증폭은 포도당 대사로 ATP/ADP 비가 이미 올라가 있을 때만 인슐린 분비로 이어집니다.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781544" y="1609344"/>
            <a:ext cx="3907231" cy="1938528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3D">
                <a:alpha val="10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8074152" y="1810512"/>
            <a:ext cx="33220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453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수용체가 분포하는 곳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8110728" y="2194560"/>
            <a:ext cx="3248863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3E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췌장 β세포 · δ세포</a:t>
            </a:r>
            <a:endParaRPr lang="en-US" sz="1050" dirty="0"/>
          </a:p>
          <a:p>
            <a:pPr algn="l" marL="342900" indent="-3429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3E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 · 심방 · 신장 · 폐</a:t>
            </a:r>
            <a:endParaRPr lang="en-US" sz="1050" dirty="0"/>
          </a:p>
          <a:p>
            <a:pPr algn="l" marL="342900" indent="-3429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3E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 — 시상하부 궁상핵, 후뇌 최후야(area postrema) · 고립로핵(NTS)</a:t>
            </a:r>
            <a:endParaRPr lang="en-US" sz="1050" dirty="0"/>
          </a:p>
          <a:p>
            <a:pPr algn="l" marL="342900" indent="-3429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3E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미주신경 구심성 섬유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781544" y="3730752"/>
            <a:ext cx="3907231" cy="2011680"/>
          </a:xfrm>
          <a:prstGeom prst="roundRect">
            <a:avLst>
              <a:gd name="adj" fmla="val 4091"/>
            </a:avLst>
          </a:prstGeom>
          <a:solidFill>
            <a:srgbClr val="FBF1DC"/>
          </a:solidFill>
          <a:ln w="12700">
            <a:solidFill>
              <a:srgbClr val="EBD9B4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3D">
                <a:alpha val="10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8074152" y="3931920"/>
            <a:ext cx="33220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9C6B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논쟁 중 — α세포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8110728" y="4315968"/>
            <a:ext cx="3248863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1B3E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α세포에서는 GLP-1R 발현이 낮거나 검출되지 않는다는 보고가 많습니다. 그래서 글루카곤 억제를 δ세포의 소마토스타틴을 경유한 간접 작용으로 보는 견해가 우세하지만, 직접 작용을 지지하는 자료도 있어 확정되지 않았습니다.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870448"/>
            <a:ext cx="11185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8B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Drucker DJ. Cell Metab 2018;27:740 · Müller TD 외. Mol Metab 2019;30:72.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F2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내인성 GLP-1과 약물은 같은 수용체, 다른 작동 방식</a:t>
            </a:r>
            <a:endParaRPr lang="en-US" sz="3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133856"/>
            <a:ext cx="11185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가지를 같은 것으로 놓고 설명하면 효과와 부작용이 모두 어긋납니다.</a:t>
            </a:r>
            <a:endParaRPr lang="en-US" sz="14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9344"/>
          <a:ext cx="11185855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3931920"/>
                <a:gridCol w="5013655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8016" marR="128016" marT="0" marB="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5707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내인성 GLP-1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8016" marR="128016" marT="0" marB="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6E8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GLP-1 수용체 작용제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8016" marR="128016" marT="0" marB="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536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혈중 농도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8016" marR="128016" marT="0" marB="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3E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식후 pmol/L 수준으로 일시적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8016" marR="128016" marT="0" marB="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3E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초생리적 농도가 지속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8016" marR="128016" marT="0" marB="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D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536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반감기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8016" marR="128016" marT="0" marB="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3E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1~2분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8016" marR="128016" marT="0" marB="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3E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13시간(리라글루타이드) ~ 약 1주(세마글루타이드)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8016" marR="128016" marT="0" marB="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D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536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주된 전달 경로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8016" marR="128016" marT="0" marB="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3E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장·문맥 주위 미주신경 구심성 — 국소 신경 신호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8016" marR="128016" marT="0" marB="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3E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전신 순환을 통한 수용체 직접 자극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8016" marR="128016" marT="0" marB="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D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536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 배출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8016" marR="128016" marT="0" marB="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3E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생리적 범위의 조절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8016" marR="128016" marT="0" marB="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3E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뚜렷한 지연. 장기 사용 시 감약(tachyphylaxis) 보고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8016" marR="128016" marT="0" marB="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D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536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식욕 억제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8016" marR="128016" marT="0" marB="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3E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제한적 — 생리적 기여도는 논쟁 중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8016" marR="128016" marT="0" marB="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3E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뚜렷함 — 후뇌·시상하부에 직접 작용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8016" marR="128016" marT="0" marB="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D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536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임상적 결과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8016" marR="128016" marT="0" marB="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3E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식후 혈당의 미세 조정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8016" marR="128016" marT="0" marB="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3E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 있는 체중·혈당 감소, 위장관 부작용 동반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8016" marR="128016" marT="0" marB="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D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5358384"/>
            <a:ext cx="11185855" cy="768096"/>
          </a:xfrm>
          <a:prstGeom prst="roundRect">
            <a:avLst>
              <a:gd name="adj" fmla="val 10714"/>
            </a:avLst>
          </a:prstGeom>
          <a:solidFill>
            <a:srgbClr val="DCEAF1"/>
          </a:solidFill>
          <a:ln w="12700">
            <a:solidFill>
              <a:srgbClr val="C3DB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13816" y="5358384"/>
            <a:ext cx="10564063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453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B3E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약물의 체중 감소 효과는 “내인성 GLP-1을 보충한 것”이 아니라, 생리적 범위를 넘어선 수용체 자극에서 나옵니다. 위장관 부작용이 함께 따라오는 이유도 같습니다.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254496"/>
            <a:ext cx="11185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8B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Nauck MA, Meier JJ. Diabetes Obes Metab 2018;20(Suppl 1):5 · Drucker DJ. Cell Metab 2018;27:740.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F2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분비를 바꾸는 요인과, 아직 정리되지 않은 논쟁</a:t>
            </a:r>
            <a:endParaRPr lang="en-US" sz="3300" dirty="0"/>
          </a:p>
        </p:txBody>
      </p:sp>
      <p:sp>
        <p:nvSpPr>
          <p:cNvPr id="3" name="Shape 1"/>
          <p:cNvSpPr/>
          <p:nvPr/>
        </p:nvSpPr>
        <p:spPr>
          <a:xfrm>
            <a:off x="502920" y="1463040"/>
            <a:ext cx="5410048" cy="4023360"/>
          </a:xfrm>
          <a:prstGeom prst="roundRect">
            <a:avLst>
              <a:gd name="adj" fmla="val 2045"/>
            </a:avLst>
          </a:prstGeom>
          <a:solidFill>
            <a:srgbClr val="DFF0E8"/>
          </a:solidFill>
          <a:ln w="12700">
            <a:solidFill>
              <a:srgbClr val="C4E0D2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3D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58952" y="1700784"/>
            <a:ext cx="585216" cy="5852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6960" y="1858792"/>
            <a:ext cx="269199" cy="26919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1755648"/>
            <a:ext cx="4084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E7D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분비를 늘리는 것으로 보고된 요인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86968" y="2468880"/>
            <a:ext cx="4641952" cy="272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30000"/>
              </a:lnSpc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1B3E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식이섬유·발효성 탄수화물 — 대장 미생물이 만든 SCFA가 FFAR2/FFAR3를 자극합니다</a:t>
            </a:r>
            <a:endParaRPr lang="en-US" sz="1200" dirty="0"/>
          </a:p>
          <a:p>
            <a:pPr algn="l" marL="342900" indent="-342900">
              <a:lnSpc>
                <a:spcPct val="130000"/>
              </a:lnSpc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1B3E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비만대사수술(위우회술·위소매절제술) — 영양소가 원위 장에 빨리 도달해 식후 GLP-1이 크게 증가합니다</a:t>
            </a:r>
            <a:endParaRPr lang="en-US" sz="1200" dirty="0"/>
          </a:p>
          <a:p>
            <a:pPr algn="l" marL="342900" indent="-342900">
              <a:lnSpc>
                <a:spcPct val="130000"/>
              </a:lnSpc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1B3E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DPP-4 억제제 — 분비를 늘리는 것이 아니라 분해를 막아 활성형 농도를 2~3배 수준으로 유지합니다</a:t>
            </a:r>
            <a:endParaRPr lang="en-US" sz="1200" dirty="0"/>
          </a:p>
          <a:p>
            <a:pPr algn="l" marL="342900" indent="-342900">
              <a:lnSpc>
                <a:spcPct val="130000"/>
              </a:lnSpc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1B3E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담즙산 신호 — 회장·대장에서 TGR5를 통해 분비를 자극합니다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278728" y="1463040"/>
            <a:ext cx="5410048" cy="4023360"/>
          </a:xfrm>
          <a:prstGeom prst="roundRect">
            <a:avLst>
              <a:gd name="adj" fmla="val 2045"/>
            </a:avLst>
          </a:prstGeom>
          <a:solidFill>
            <a:srgbClr val="FBF1DC"/>
          </a:solidFill>
          <a:ln w="12700">
            <a:solidFill>
              <a:srgbClr val="EBD9B4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3D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34760" y="1700784"/>
            <a:ext cx="585216" cy="5852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4472" y="1870497"/>
            <a:ext cx="245791" cy="24579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84568" y="1755648"/>
            <a:ext cx="4084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9C6B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아직 논쟁 중인 것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6662776" y="2468880"/>
            <a:ext cx="4641952" cy="272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30000"/>
              </a:lnSpc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1B3E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2형 당뇨에서 GLP-1 “분비”가 정말 감소하는가 — 메타분석에서는 일관된 감소가 확인되지 않았습니다. 인크레틴 효과 저하의 핵심은 분비 부족보다 GIP에 대한 β세포 반응 저하로 보는 견해가 우세합니다</a:t>
            </a:r>
            <a:endParaRPr lang="en-US" sz="1200" dirty="0"/>
          </a:p>
          <a:p>
            <a:pPr algn="l" marL="342900" indent="-342900">
              <a:lnSpc>
                <a:spcPct val="130000"/>
              </a:lnSpc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1B3E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 분비에서 신경·내분비 경로가 사람에게 기여하는 정도</a:t>
            </a:r>
            <a:endParaRPr lang="en-US" sz="1200" dirty="0"/>
          </a:p>
          <a:p>
            <a:pPr algn="l" marL="342900" indent="-342900">
              <a:lnSpc>
                <a:spcPct val="130000"/>
              </a:lnSpc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1B3E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GLP-1(9-36)amide가 독자적 작용을 갖는지 여부</a:t>
            </a:r>
            <a:endParaRPr lang="en-US" sz="1200" dirty="0"/>
          </a:p>
          <a:p>
            <a:pPr algn="l" marL="342900" indent="-342900">
              <a:lnSpc>
                <a:spcPct val="130000"/>
              </a:lnSpc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1B3E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생리적 조건에서 내인성 GLP-1이 식욕에 기여하는 정도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502920" y="5687568"/>
            <a:ext cx="11185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8B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Calanna S 외. Diabetologia 2013;56:965 · Gribble FM, Reimann F. Nat Rev Endocrinol 2019;15:226 · Nauck MA, Meier JJ. Diabetes Obes Metab 2018;20(Suppl 1):5.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F2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심화 근거 자료</a:t>
            </a:r>
            <a:endParaRPr lang="en-US" sz="3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133856"/>
            <a:ext cx="11185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557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부록(12~19장)의 생리학 서술은 아래 종설과 메타분석에 근거했습니다.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85855" cy="667512"/>
          </a:xfrm>
          <a:prstGeom prst="roundRect">
            <a:avLst>
              <a:gd name="adj" fmla="val 12329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2376" y="1764792"/>
            <a:ext cx="960120" cy="283464"/>
          </a:xfrm>
          <a:prstGeom prst="roundRect">
            <a:avLst>
              <a:gd name="adj" fmla="val 22581"/>
            </a:avLst>
          </a:prstGeom>
          <a:solidFill>
            <a:srgbClr val="DCEAF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22376" y="1764792"/>
            <a:ext cx="960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453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생리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819656" y="1664208"/>
            <a:ext cx="9594799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3E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Holst JJ. The physiology of glucagon-like peptide 1. Physiol Rev. 2007;87(4):1409-1439.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290572"/>
            <a:ext cx="11185855" cy="667512"/>
          </a:xfrm>
          <a:prstGeom prst="roundRect">
            <a:avLst>
              <a:gd name="adj" fmla="val 12329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22376" y="2482596"/>
            <a:ext cx="960120" cy="283464"/>
          </a:xfrm>
          <a:prstGeom prst="roundRect">
            <a:avLst>
              <a:gd name="adj" fmla="val 22581"/>
            </a:avLst>
          </a:prstGeom>
          <a:solidFill>
            <a:srgbClr val="DCEAF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22376" y="2482596"/>
            <a:ext cx="960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453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L세포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819656" y="2382012"/>
            <a:ext cx="9594799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3E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Gribble FM, Reimann F. Function and mechanisms of enteroendocrine cells and gut hormones in metabolism. Nat Rev Endocrinol. 2019;15(4):226-237.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3008376"/>
            <a:ext cx="11185855" cy="667512"/>
          </a:xfrm>
          <a:prstGeom prst="roundRect">
            <a:avLst>
              <a:gd name="adj" fmla="val 12329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22376" y="3200400"/>
            <a:ext cx="960120" cy="283464"/>
          </a:xfrm>
          <a:prstGeom prst="roundRect">
            <a:avLst>
              <a:gd name="adj" fmla="val 22581"/>
            </a:avLst>
          </a:prstGeom>
          <a:solidFill>
            <a:srgbClr val="DCEAF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22376" y="3200400"/>
            <a:ext cx="960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453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기전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1819656" y="3099816"/>
            <a:ext cx="9594799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3E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Drucker DJ. Mechanisms of Action and Therapeutic Application of Glucagon-like Peptide-1. Cell Metab. 2018;27(4):740-756.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3726180"/>
            <a:ext cx="11185855" cy="667512"/>
          </a:xfrm>
          <a:prstGeom prst="roundRect">
            <a:avLst>
              <a:gd name="adj" fmla="val 12329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2376" y="3918204"/>
            <a:ext cx="960120" cy="283464"/>
          </a:xfrm>
          <a:prstGeom prst="roundRect">
            <a:avLst>
              <a:gd name="adj" fmla="val 22581"/>
            </a:avLst>
          </a:prstGeom>
          <a:solidFill>
            <a:srgbClr val="DCEAF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22376" y="3918204"/>
            <a:ext cx="960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453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종설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1819656" y="3817620"/>
            <a:ext cx="9594799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3E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Müller TD, Finan B, Bloom SR, 외. Glucagon-like peptide 1 (GLP-1). Mol Metab. 2019;30:72-130.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4443984"/>
            <a:ext cx="11185855" cy="667512"/>
          </a:xfrm>
          <a:prstGeom prst="roundRect">
            <a:avLst>
              <a:gd name="adj" fmla="val 12329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22376" y="4636008"/>
            <a:ext cx="960120" cy="283464"/>
          </a:xfrm>
          <a:prstGeom prst="roundRect">
            <a:avLst>
              <a:gd name="adj" fmla="val 22581"/>
            </a:avLst>
          </a:prstGeom>
          <a:solidFill>
            <a:srgbClr val="DCEAF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22376" y="4636008"/>
            <a:ext cx="960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453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인크레틴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1819656" y="4535424"/>
            <a:ext cx="9594799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3E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Nauck MA, Meier JJ. Incretin hormones: Their role in health and disease. Diabetes Obes Metab. 2018;20(Suppl 1):5-21.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5161788"/>
            <a:ext cx="11185855" cy="667512"/>
          </a:xfrm>
          <a:prstGeom prst="roundRect">
            <a:avLst>
              <a:gd name="adj" fmla="val 12329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2376" y="5353812"/>
            <a:ext cx="960120" cy="283464"/>
          </a:xfrm>
          <a:prstGeom prst="roundRect">
            <a:avLst>
              <a:gd name="adj" fmla="val 22581"/>
            </a:avLst>
          </a:prstGeom>
          <a:solidFill>
            <a:srgbClr val="DCEAF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22376" y="5353812"/>
            <a:ext cx="960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453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논쟁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1819656" y="5253228"/>
            <a:ext cx="9594799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3E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Calanna S, Christensen M, Holst JJ, 외. Secretion of glucagon-like peptide-1 in patients with type 2 diabetes mellitus: systematic review and meta-analyses of clinical studies. Diabetologia. 2013;56(5):965-972.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02920" y="6144768"/>
            <a:ext cx="11185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8B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10장(근거 자료)의 임상시험 문헌과 함께 보십시오. 수용체 분포와 세포내 신호전달은 상당 부분이 동물 자료에 근거하며, 사람에서 직접 확인된 범위는 더 좁습니다.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GLP-1 작용제는 우리 몸에서 무슨 일을 할까?</dc:title>
  <dc:subject>PptxGenJS Presentation</dc:subject>
  <dc:creator>GLP-1 환자 교육 자료</dc:creator>
  <cp:lastModifiedBy>GLP-1 환자 교육 자료</cp:lastModifiedBy>
  <cp:revision>1</cp:revision>
  <dcterms:created xsi:type="dcterms:W3CDTF">2026-09-19T01:42:53Z</dcterms:created>
  <dcterms:modified xsi:type="dcterms:W3CDTF">2026-09-19T01:42:53Z</dcterms:modified>
</cp:coreProperties>
</file>